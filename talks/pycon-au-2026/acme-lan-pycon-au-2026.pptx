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 Hi — five minutes, so I am going to talk quickly.
acme-lan: an internal ACME server that hands out REAL, publicly-trusted certificates to hosts the internet has never heard of.
Pause on the joke about ACME Corp only if the room is warm.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[0:12] This is the problem slide. Everyone in this room knows this string.
Type it into a Chrome interstitial, it clicks through. I know it by muscle memory. That is the bug.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[0:20] Here is the shape of the problem. One name, two worlds.
db.example.net is a real name in a real public zone. On the LAN it resolves to a private IP.
Let's Encrypt will happily certify that name — it just has to be able to check you own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[0:36] One prerequisite, and it is not negotiable: the names on your LAN have to be real, public names. No .local, no .internal, no .lan — a public CA will not certify a name nobody owns.
The good news is that split-horizon DNS stopped being painful. unbound and dnsmasq will override just the names you host and pass the rest of the zone straight through.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[0:50] The three usual answers, and why I stopped liking all of them.
Tokens everywhere: a zone-wide credential on a printer. Private CA: now distribute a root to every device anyone ever brings. Self-signed: see the previous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[1:04] The numbers that made me build it. Zero of my LAN appliances will ever run an ACME client. One machine should hold the DNS credential. And the renewal has to be automatic, because 90 days comes around fast.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[1:14] The idea is one sentence: be an ACME server on the inside, and an ACME client on the outside.
Your clients change exactly one thing — the directory URL.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[1:24] The architecture. Client talks ACME to me over the LAN and proves control with http-01 or tls-alpn-01. I turn around, open an order at the real CA for the same names, and prove control with DNS-01 — writing the TXT into a zone I delegated for exactly this.
Only this one box holds a DNS credential, and it is a small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[1:50] This is the one design decision that actually matters.
At finalize, the client sends me its CSR. I do not generate a key. I forward that same CSR upstream. So the cert that comes back matches the private key that never left the client.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[2:04] Two challenge conversations, and they are completely independent.
Downstream — proving to me, on the LAN — is http-01 or tls-alpn-01, so a box that only speaks TLS is fine.
Upstream — proving to Let's Encrypt — is DNS-01 by default, or edge http-01 if you are actually publicly reachable.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[2:18] So DNS-01 it is. Which leaves one box holding a token that can rewrite your entire zone. That is better than thirty-seven copies of it. It is still worth making that token as small as you can.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[2:26] And you can make it very small, without any new software.
CNAME the _acme-challenge record for each name at a zone you delegate. Every CA follows that CNAME — it is how DNS-01 was designed to be used. acme-lan then only needs a token that can write in the delegated zone, and nothing at all in your real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[2:50] Which brings us to acme-dns, because someone always asks.
It is a purpose-built DNS server for exactly this: register once, one CNAME, POST the TXT to /update, and removal is a no-op because it expires records itself. acme-lan ships a provider for it.
But be honest: once you have delegated _acme-challenge, acme-dns buys you the same blast radius for an internet-facing DNS server you now run forever. Use it if you already have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[3:06] Second half of the project: the things that will never run an ACME client at all.
Register the box as a managed host and acme-lan does issuance, installation and renewal for it.
Preferred mode: we fetch a CSR the DEVICE generated, sign it, and push back only the certificate.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[3:24] And yes, it has a dashboard. Every issued cert, what it is for, which device it was pushed to, and a live health badge — not what the database thinks, what the endpoint is actually serving right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[3:34] The health column is the bit I use most. It opens a raw TLS connection and reads the leaf certificate — so it works for LDAPS and SMTPS, not just HTTPS. Ten days left on the ESXi box, and it tells me before the ticket does.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[3:46] Adding a device used to be a raw JSON blob in a text box. Now plugins declare their config as PluginFields and the modal renders exactly the right form — and it changes as you switch plugin or CSR mode.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[3:56 — if you are behind, this is the slide to cut] Be honest about alternatives. Most people in this room do NOT need this. If your hosts can reach the internet and hold DNS credentials, use certbot with a DNS plugin and go and enjoy the hallway track.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[4:12] The Python, quickly. FastAPI and async SQLAlchemy, Alembic migrations that run on container start. The upstream client is certbot's own acme library — the reference implementation is right there on PyPI. And the end-to-end tests run against Pebble, a real ACME CA that issues deliberately awful certificates.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[4:24] Three things I would tell past me. Forward the CSR — everything else follows from that. Stay on Let's Encrypt staging longer than you think. And no plaintext private keys at rest, ever, even the ones you generated yourself.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[4:38] One docker run, defaults to Let's Encrypt staging so you cannot hurt yourself. MIT, on GitHub.
Thank you — no questions, lightning talk rules — but I will be in the hallway and my printer finally has a valid certificate.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4B18E8"/>
        </a:solidFill>
      </p:bgPr>
    </p:bg>
    <p:spTree>
      <p:nvGrpSpPr>
        <p:cNvPr id="1" name=""/>
        <p:cNvGrpSpPr/>
        <p:nvPr/>
      </p:nvGrpSpPr>
      <p:grpSpPr>
        <a:xfrm>
          <a:off x="0" y="0"/>
          <a:ext cx="0" cy="0"/>
          <a:chOff x="0" y="0"/>
          <a:chExt cx="0" cy="0"/>
        </a:xfrm>
      </p:grpSpPr>
      <p:sp>
        <p:nvSpPr>
          <p:cNvPr id="3" name="Text 0"/>
          <p:cNvSpPr txBox="1"/>
          <p:nvPr/>
        </p:nvSpPr>
        <p:spPr>
          <a:xfrm>
            <a:off x="822960" y="685800"/>
            <a:ext cx="10607040" cy="320040"/>
          </a:xfrm>
          <a:prstGeom prst="rect">
            <a:avLst/>
          </a:prstGeom>
          <a:noFill/>
          <a:ln/>
        </p:spPr>
        <p:txBody>
          <a:bodyPr wrap="square" lIns="0" tIns="0" rIns="0" bIns="0" rtlCol="0" anchor="ctr"/>
          <a:lstStyle/>
          <a:p>
            <a:pPr indent="0" marL="0">
              <a:buNone/>
            </a:pPr>
            <a:r>
              <a:rPr lang="en-US" sz="1300" dirty="0">
                <a:solidFill>
                  <a:srgbClr val="B18CFA"/>
                </a:solidFill>
                <a:latin typeface="Courier New" pitchFamily="34" charset="0"/>
                <a:ea typeface="Courier New" pitchFamily="34" charset="-122"/>
                <a:cs typeface="Courier New" pitchFamily="34" charset="-120"/>
              </a:rPr>
              <a:t>$ certbot certonly --server http://acme-lan.lan:8000/acme/directory -d db.example.net</a:t>
            </a:r>
            <a:endParaRPr lang="en-US" sz="1300" dirty="0"/>
          </a:p>
        </p:txBody>
      </p:sp>
      <p:sp>
        <p:nvSpPr>
          <p:cNvPr id="4" name="Text 1"/>
          <p:cNvSpPr txBox="1"/>
          <p:nvPr/>
        </p:nvSpPr>
        <p:spPr>
          <a:xfrm>
            <a:off x="777240" y="1554480"/>
            <a:ext cx="10607040" cy="1554480"/>
          </a:xfrm>
          <a:prstGeom prst="rect">
            <a:avLst/>
          </a:prstGeom>
          <a:noFill/>
          <a:ln/>
        </p:spPr>
        <p:txBody>
          <a:bodyPr wrap="square" lIns="0" tIns="0" rIns="0" bIns="0" rtlCol="0" anchor="ctr"/>
          <a:lstStyle/>
          <a:p>
            <a:pPr indent="0" marL="0">
              <a:buNone/>
            </a:pPr>
            <a:r>
              <a:rPr lang="en-US" sz="9600" b="1" dirty="0">
                <a:solidFill>
                  <a:srgbClr val="C2F166"/>
                </a:solidFill>
                <a:latin typeface="Arial" pitchFamily="34" charset="0"/>
                <a:ea typeface="Arial" pitchFamily="34" charset="-122"/>
                <a:cs typeface="Arial" pitchFamily="34" charset="-120"/>
              </a:rPr>
              <a:t>acme-lan</a:t>
            </a:r>
            <a:endParaRPr lang="en-US" sz="9600" dirty="0"/>
          </a:p>
        </p:txBody>
      </p:sp>
      <p:sp>
        <p:nvSpPr>
          <p:cNvPr id="5" name="Text 2"/>
          <p:cNvSpPr txBox="1"/>
          <p:nvPr/>
        </p:nvSpPr>
        <p:spPr>
          <a:xfrm>
            <a:off x="822960" y="3246120"/>
            <a:ext cx="10424160" cy="1097280"/>
          </a:xfrm>
          <a:prstGeom prst="rect">
            <a:avLst/>
          </a:prstGeom>
          <a:noFill/>
          <a:ln/>
        </p:spPr>
        <p:txBody>
          <a:bodyPr wrap="square" lIns="0" tIns="0" rIns="0" bIns="0" rtlCol="0" anchor="ctr"/>
          <a:lstStyle/>
          <a:p>
            <a:pPr indent="0" marL="0">
              <a:lnSpc>
                <a:spcPct val="115000"/>
              </a:lnSpc>
              <a:buNone/>
            </a:pPr>
            <a:r>
              <a:rPr lang="en-US" sz="2600" dirty="0">
                <a:solidFill>
                  <a:srgbClr val="FFFFFF"/>
                </a:solidFill>
                <a:latin typeface="Arial" pitchFamily="34" charset="0"/>
                <a:ea typeface="Arial" pitchFamily="34" charset="-122"/>
                <a:cs typeface="Arial" pitchFamily="34" charset="-120"/>
              </a:rPr>
              <a:t>Real, publicly-trusted certificates for the hosts</a:t>
            </a:r>
            <a:endParaRPr lang="en-US" sz="2600" dirty="0"/>
          </a:p>
          <a:p>
            <a:pPr indent="0" marL="0">
              <a:lnSpc>
                <a:spcPct val="115000"/>
              </a:lnSpc>
              <a:buNone/>
            </a:pPr>
            <a:r>
              <a:rPr lang="en-US" sz="2600" dirty="0">
                <a:solidFill>
                  <a:srgbClr val="FFFFFF"/>
                </a:solidFill>
                <a:latin typeface="Arial" pitchFamily="34" charset="0"/>
                <a:ea typeface="Arial" pitchFamily="34" charset="-122"/>
                <a:cs typeface="Arial" pitchFamily="34" charset="-120"/>
              </a:rPr>
              <a:t>the internet can never reach.</a:t>
            </a:r>
            <a:endParaRPr lang="en-US" sz="2600" dirty="0"/>
          </a:p>
        </p:txBody>
      </p:sp>
      <p:sp>
        <p:nvSpPr>
          <p:cNvPr id="6" name="Text 3"/>
          <p:cNvSpPr txBox="1"/>
          <p:nvPr/>
        </p:nvSpPr>
        <p:spPr>
          <a:xfrm>
            <a:off x="822960" y="4434840"/>
            <a:ext cx="10424160" cy="365760"/>
          </a:xfrm>
          <a:prstGeom prst="rect">
            <a:avLst/>
          </a:prstGeom>
          <a:noFill/>
          <a:ln/>
        </p:spPr>
        <p:txBody>
          <a:bodyPr wrap="square" lIns="0" tIns="0" rIns="0" bIns="0" rtlCol="0" anchor="ctr"/>
          <a:lstStyle/>
          <a:p>
            <a:pPr indent="0" marL="0">
              <a:buNone/>
            </a:pPr>
            <a:r>
              <a:rPr lang="en-US" sz="1500" i="1" dirty="0">
                <a:solidFill>
                  <a:srgbClr val="B18CFA"/>
                </a:solidFill>
                <a:latin typeface="Arial" pitchFamily="34" charset="0"/>
                <a:ea typeface="Arial" pitchFamily="34" charset="-122"/>
                <a:cs typeface="Arial" pitchFamily="34" charset="-120"/>
              </a:rPr>
              <a:t>No relation to the anvil company. Although both are elaborate schemes that mostly work.</a:t>
            </a:r>
            <a:endParaRPr lang="en-US" sz="1500" dirty="0"/>
          </a:p>
        </p:txBody>
      </p:sp>
      <p:sp>
        <p:nvSpPr>
          <p:cNvPr id="7" name="Text 4"/>
          <p:cNvSpPr txBox="1"/>
          <p:nvPr/>
        </p:nvSpPr>
        <p:spPr>
          <a:xfrm>
            <a:off x="822960" y="5852160"/>
            <a:ext cx="10607040" cy="365760"/>
          </a:xfrm>
          <a:prstGeom prst="rect">
            <a:avLst/>
          </a:prstGeom>
          <a:noFill/>
          <a:ln/>
        </p:spPr>
        <p:txBody>
          <a:bodyPr wrap="square" lIns="0" tIns="0" rIns="0" bIns="0" rtlCol="0" anchor="ctr"/>
          <a:lstStyle/>
          <a:p>
            <a:pPr indent="0" marL="0">
              <a:buNone/>
            </a:pPr>
            <a:r>
              <a:rPr lang="en-US" sz="1300" dirty="0">
                <a:solidFill>
                  <a:srgbClr val="B18CFA"/>
                </a:solidFill>
                <a:latin typeface="Courier New" pitchFamily="34" charset="0"/>
                <a:ea typeface="Courier New" pitchFamily="34" charset="-122"/>
                <a:cs typeface="Courier New" pitchFamily="34" charset="-120"/>
              </a:rPr>
              <a:t>PyCon AU 2026  ·  Brisbane  ·  lightning talk  ·  github.com/smallsam/acme-lan  ·  MIT</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4B18E8"/>
        </a:solidFill>
      </p:bgPr>
    </p:bg>
    <p:spTree>
      <p:nvGrpSpPr>
        <p:cNvPr id="1" name=""/>
        <p:cNvGrpSpPr/>
        <p:nvPr/>
      </p:nvGrpSpPr>
      <p:grpSpPr>
        <a:xfrm>
          <a:off x="0" y="0"/>
          <a:ext cx="0" cy="0"/>
          <a:chOff x="0" y="0"/>
          <a:chExt cx="0" cy="0"/>
        </a:xfrm>
      </p:grpSpPr>
      <p:sp>
        <p:nvSpPr>
          <p:cNvPr id="3" name="Text 0"/>
          <p:cNvSpPr txBox="1"/>
          <p:nvPr/>
        </p:nvSpPr>
        <p:spPr>
          <a:xfrm>
            <a:off x="777240" y="1737360"/>
            <a:ext cx="10972800" cy="1737360"/>
          </a:xfrm>
          <a:prstGeom prst="rect">
            <a:avLst/>
          </a:prstGeom>
          <a:noFill/>
          <a:ln/>
        </p:spPr>
        <p:txBody>
          <a:bodyPr wrap="square" lIns="0" tIns="0" rIns="0" bIns="0" rtlCol="0" anchor="ctr"/>
          <a:lstStyle/>
          <a:p>
            <a:pPr indent="0" marL="0">
              <a:buNone/>
            </a:pPr>
            <a:r>
              <a:rPr lang="en-US" sz="8800" b="1" dirty="0">
                <a:solidFill>
                  <a:srgbClr val="C2F166"/>
                </a:solidFill>
                <a:latin typeface="Courier New" pitchFamily="34" charset="0"/>
                <a:ea typeface="Courier New" pitchFamily="34" charset="-122"/>
                <a:cs typeface="Courier New" pitchFamily="34" charset="-120"/>
              </a:rPr>
              <a:t>thisisunsafe</a:t>
            </a:r>
            <a:endParaRPr lang="en-US" sz="8800" dirty="0"/>
          </a:p>
        </p:txBody>
      </p:sp>
      <p:sp>
        <p:nvSpPr>
          <p:cNvPr id="4" name="Text 1"/>
          <p:cNvSpPr txBox="1"/>
          <p:nvPr/>
        </p:nvSpPr>
        <p:spPr>
          <a:xfrm>
            <a:off x="822960" y="3703320"/>
            <a:ext cx="10424160" cy="1005840"/>
          </a:xfrm>
          <a:prstGeom prst="rect">
            <a:avLst/>
          </a:prstGeom>
          <a:noFill/>
          <a:ln/>
        </p:spPr>
        <p:txBody>
          <a:bodyPr wrap="square" lIns="0" tIns="0" rIns="0" bIns="0" rtlCol="0" anchor="ctr"/>
          <a:lstStyle/>
          <a:p>
            <a:pPr indent="0" marL="0">
              <a:lnSpc>
                <a:spcPct val="115000"/>
              </a:lnSpc>
              <a:buNone/>
            </a:pPr>
            <a:r>
              <a:rPr lang="en-US" sz="2400" dirty="0">
                <a:solidFill>
                  <a:srgbClr val="FFFFFF"/>
                </a:solidFill>
                <a:latin typeface="Arial" pitchFamily="34" charset="0"/>
                <a:ea typeface="Arial" pitchFamily="34" charset="-122"/>
                <a:cs typeface="Arial" pitchFamily="34" charset="-120"/>
              </a:rPr>
              <a:t>I have typed this so many times it stopped being a workaround</a:t>
            </a:r>
            <a:endParaRPr lang="en-US" sz="2400" dirty="0"/>
          </a:p>
          <a:p>
            <a:pPr indent="0" marL="0">
              <a:lnSpc>
                <a:spcPct val="115000"/>
              </a:lnSpc>
              <a:buNone/>
            </a:pPr>
            <a:r>
              <a:rPr lang="en-US" sz="2400" dirty="0">
                <a:solidFill>
                  <a:srgbClr val="FFFFFF"/>
                </a:solidFill>
                <a:latin typeface="Arial" pitchFamily="34" charset="0"/>
                <a:ea typeface="Arial" pitchFamily="34" charset="-122"/>
                <a:cs typeface="Arial" pitchFamily="34" charset="-120"/>
              </a:rPr>
              <a:t>and became a personality trait.</a:t>
            </a:r>
            <a:endParaRPr lang="en-US" sz="2400" dirty="0"/>
          </a:p>
        </p:txBody>
      </p:sp>
      <p:sp>
        <p:nvSpPr>
          <p:cNvPr id="5" name="Text 2"/>
          <p:cNvSpPr txBox="1"/>
          <p:nvPr/>
        </p:nvSpPr>
        <p:spPr>
          <a:xfrm>
            <a:off x="594360" y="6144768"/>
            <a:ext cx="11064240" cy="365760"/>
          </a:xfrm>
          <a:prstGeom prst="rect">
            <a:avLst/>
          </a:prstGeom>
          <a:noFill/>
          <a:ln/>
        </p:spPr>
        <p:txBody>
          <a:bodyPr wrap="square" lIns="0" tIns="0" rIns="0" bIns="0" rtlCol="0" anchor="ctr"/>
          <a:lstStyle/>
          <a:p>
            <a:pPr algn="l" indent="0" marL="0">
              <a:buNone/>
            </a:pPr>
            <a:r>
              <a:rPr lang="en-US" sz="1200" dirty="0">
                <a:solidFill>
                  <a:srgbClr val="B18CFA"/>
                </a:solidFill>
                <a:latin typeface="Courier New" pitchFamily="34" charset="0"/>
                <a:ea typeface="Courier New" pitchFamily="34" charset="-122"/>
                <a:cs typeface="Courier New" pitchFamily="34" charset="-120"/>
              </a:rPr>
              <a:t># the motivation, stated honestly</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AEAEA"/>
        </a:solidFill>
      </p:bgPr>
    </p:bg>
    <p:spTree>
      <p:nvGrpSpPr>
        <p:cNvPr id="1" name=""/>
        <p:cNvGrpSpPr/>
        <p:nvPr/>
      </p:nvGrpSpPr>
      <p:grpSpPr>
        <a:xfrm>
          <a:off x="0" y="0"/>
          <a:ext cx="0" cy="0"/>
          <a:chOff x="0" y="0"/>
          <a:chExt cx="0" cy="0"/>
        </a:xfrm>
      </p:grpSpPr>
      <p:sp>
        <p:nvSpPr>
          <p:cNvPr id="3" name="Shape 0"/>
          <p:cNvSpPr/>
          <p:nvPr/>
        </p:nvSpPr>
        <p:spPr>
          <a:xfrm>
            <a:off x="566928" y="384048"/>
            <a:ext cx="566928" cy="566928"/>
          </a:xfrm>
          <a:prstGeom prst="ellipse">
            <a:avLst/>
          </a:prstGeom>
          <a:solidFill>
            <a:srgbClr val="4B18E8"/>
          </a:solidFill>
          <a:ln/>
        </p:spPr>
      </p:sp>
      <p:sp>
        <p:nvSpPr>
          <p:cNvPr id="4" name="Text 1"/>
          <p:cNvSpPr txBox="1"/>
          <p:nvPr/>
        </p:nvSpPr>
        <p:spPr>
          <a:xfrm>
            <a:off x="566928" y="3840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1</a:t>
            </a:r>
            <a:endParaRPr lang="en-US" sz="2000" dirty="0"/>
          </a:p>
        </p:txBody>
      </p:sp>
      <p:sp>
        <p:nvSpPr>
          <p:cNvPr id="5" name="Text 2"/>
          <p:cNvSpPr txBox="1"/>
          <p:nvPr/>
        </p:nvSpPr>
        <p:spPr>
          <a:xfrm>
            <a:off x="1325880" y="329184"/>
            <a:ext cx="10332720" cy="713232"/>
          </a:xfrm>
          <a:prstGeom prst="rect">
            <a:avLst/>
          </a:prstGeom>
          <a:noFill/>
          <a:ln/>
        </p:spPr>
        <p:txBody>
          <a:bodyPr wrap="square" lIns="0" tIns="0" rIns="0" bIns="0" rtlCol="0" anchor="ctr"/>
          <a:lstStyle/>
          <a:p>
            <a:pPr algn="l" indent="0" marL="0">
              <a:buNone/>
            </a:pPr>
            <a:r>
              <a:rPr lang="en-US" sz="3400" b="1" dirty="0">
                <a:solidFill>
                  <a:srgbClr val="1A1533"/>
                </a:solidFill>
                <a:latin typeface="Arial" pitchFamily="34" charset="0"/>
                <a:ea typeface="Arial" pitchFamily="34" charset="-122"/>
                <a:cs typeface="Arial" pitchFamily="34" charset="-120"/>
              </a:rPr>
              <a:t>One name, two worlds</a:t>
            </a:r>
            <a:endParaRPr lang="en-US" sz="3400" dirty="0"/>
          </a:p>
        </p:txBody>
      </p:sp>
      <p:sp>
        <p:nvSpPr>
          <p:cNvPr id="6" name="Shape 3"/>
          <p:cNvSpPr/>
          <p:nvPr/>
        </p:nvSpPr>
        <p:spPr>
          <a:xfrm>
            <a:off x="594360" y="1417320"/>
            <a:ext cx="5394960" cy="2331720"/>
          </a:xfrm>
          <a:prstGeom prst="roundRect">
            <a:avLst>
              <a:gd name="adj" fmla="val 3529"/>
            </a:avLst>
          </a:prstGeom>
          <a:solidFill>
            <a:srgbClr val="FFFFFF"/>
          </a:solidFill>
          <a:ln w="12700">
            <a:solidFill>
              <a:srgbClr val="CFC6EE"/>
            </a:solidFill>
            <a:prstDash val="solid"/>
          </a:ln>
        </p:spPr>
      </p:sp>
      <p:sp>
        <p:nvSpPr>
          <p:cNvPr id="7" name="Text 4"/>
          <p:cNvSpPr txBox="1"/>
          <p:nvPr/>
        </p:nvSpPr>
        <p:spPr>
          <a:xfrm>
            <a:off x="886968" y="1673352"/>
            <a:ext cx="4809744" cy="256032"/>
          </a:xfrm>
          <a:prstGeom prst="rect">
            <a:avLst/>
          </a:prstGeom>
          <a:noFill/>
          <a:ln/>
        </p:spPr>
        <p:txBody>
          <a:bodyPr wrap="square" lIns="0" tIns="0" rIns="0" bIns="0" rtlCol="0" anchor="ctr"/>
          <a:lstStyle/>
          <a:p>
            <a:pPr indent="0" marL="0">
              <a:buNone/>
            </a:pPr>
            <a:r>
              <a:rPr lang="en-US" sz="1200" b="1" spc="100" kern="0" dirty="0">
                <a:solidFill>
                  <a:srgbClr val="EF5539"/>
                </a:solidFill>
                <a:latin typeface="Courier New" pitchFamily="34" charset="0"/>
                <a:ea typeface="Courier New" pitchFamily="34" charset="-122"/>
                <a:cs typeface="Courier New" pitchFamily="34" charset="-120"/>
              </a:rPr>
              <a:t>PUBLIC VIEW</a:t>
            </a:r>
            <a:endParaRPr lang="en-US" sz="1200" dirty="0"/>
          </a:p>
        </p:txBody>
      </p:sp>
      <p:sp>
        <p:nvSpPr>
          <p:cNvPr id="8" name="Text 5"/>
          <p:cNvSpPr txBox="1"/>
          <p:nvPr/>
        </p:nvSpPr>
        <p:spPr>
          <a:xfrm>
            <a:off x="886968" y="2002536"/>
            <a:ext cx="4809744" cy="457200"/>
          </a:xfrm>
          <a:prstGeom prst="rect">
            <a:avLst/>
          </a:prstGeom>
          <a:noFill/>
          <a:ln/>
        </p:spPr>
        <p:txBody>
          <a:bodyPr wrap="square" lIns="0" tIns="0" rIns="0" bIns="0" rtlCol="0" anchor="t"/>
          <a:lstStyle/>
          <a:p>
            <a:pPr indent="0" marL="0">
              <a:buNone/>
            </a:pPr>
            <a:r>
              <a:rPr lang="en-US" sz="2400" b="1" dirty="0">
                <a:solidFill>
                  <a:srgbClr val="1A1533"/>
                </a:solidFill>
                <a:latin typeface="Courier New" pitchFamily="34" charset="0"/>
                <a:ea typeface="Courier New" pitchFamily="34" charset="-122"/>
                <a:cs typeface="Courier New" pitchFamily="34" charset="-120"/>
              </a:rPr>
              <a:t>db.example.net</a:t>
            </a:r>
            <a:endParaRPr lang="en-US" sz="2400" dirty="0"/>
          </a:p>
        </p:txBody>
      </p:sp>
      <p:sp>
        <p:nvSpPr>
          <p:cNvPr id="9" name="Text 6"/>
          <p:cNvSpPr txBox="1"/>
          <p:nvPr/>
        </p:nvSpPr>
        <p:spPr>
          <a:xfrm>
            <a:off x="886968" y="2532888"/>
            <a:ext cx="4809744" cy="1014984"/>
          </a:xfrm>
          <a:prstGeom prst="rect">
            <a:avLst/>
          </a:prstGeom>
          <a:noFill/>
          <a:ln/>
        </p:spPr>
        <p:txBody>
          <a:bodyPr wrap="square" lIns="0" tIns="0" rIns="0" bIns="0" rtlCol="0" anchor="t"/>
          <a:lstStyle/>
          <a:p>
            <a:pPr indent="0" marL="0">
              <a:lnSpc>
                <a:spcPct val="115000"/>
              </a:lnSpc>
              <a:buNone/>
            </a:pPr>
            <a:r>
              <a:rPr lang="en-US" sz="1500" dirty="0">
                <a:solidFill>
                  <a:srgbClr val="5F5878"/>
                </a:solidFill>
                <a:latin typeface="Arial" pitchFamily="34" charset="0"/>
                <a:ea typeface="Arial" pitchFamily="34" charset="-122"/>
                <a:cs typeface="Arial" pitchFamily="34" charset="-120"/>
              </a:rPr>
              <a:t>Not reachable. No open ports. Possibly no A record at all.</a:t>
            </a:r>
            <a:endParaRPr lang="en-US" sz="1500" dirty="0"/>
          </a:p>
          <a:p>
            <a:pPr indent="0" marL="0">
              <a:lnSpc>
                <a:spcPct val="115000"/>
              </a:lnSpc>
              <a:buNone/>
            </a:pPr>
            <a:r>
              <a:rPr lang="en-US" sz="1500" dirty="0">
                <a:solidFill>
                  <a:srgbClr val="5F5878"/>
                </a:solidFill>
                <a:latin typeface="Arial" pitchFamily="34" charset="0"/>
                <a:ea typeface="Arial" pitchFamily="34" charset="-122"/>
                <a:cs typeface="Arial" pitchFamily="34" charset="-120"/>
              </a:rPr>
              <a:t>The CA cannot knock on this door.</a:t>
            </a:r>
            <a:endParaRPr lang="en-US" sz="1500" dirty="0"/>
          </a:p>
        </p:txBody>
      </p:sp>
      <p:sp>
        <p:nvSpPr>
          <p:cNvPr id="10" name="Shape 7"/>
          <p:cNvSpPr/>
          <p:nvPr/>
        </p:nvSpPr>
        <p:spPr>
          <a:xfrm>
            <a:off x="6199632" y="1417320"/>
            <a:ext cx="5394960" cy="2331720"/>
          </a:xfrm>
          <a:prstGeom prst="roundRect">
            <a:avLst>
              <a:gd name="adj" fmla="val 3529"/>
            </a:avLst>
          </a:prstGeom>
          <a:solidFill>
            <a:srgbClr val="FFFFFF"/>
          </a:solidFill>
          <a:ln w="12700">
            <a:solidFill>
              <a:srgbClr val="CFC6EE"/>
            </a:solidFill>
            <a:prstDash val="solid"/>
          </a:ln>
        </p:spPr>
      </p:sp>
      <p:sp>
        <p:nvSpPr>
          <p:cNvPr id="11" name="Text 8"/>
          <p:cNvSpPr txBox="1"/>
          <p:nvPr/>
        </p:nvSpPr>
        <p:spPr>
          <a:xfrm>
            <a:off x="6492240" y="1673352"/>
            <a:ext cx="4809744" cy="256032"/>
          </a:xfrm>
          <a:prstGeom prst="rect">
            <a:avLst/>
          </a:prstGeom>
          <a:noFill/>
          <a:ln/>
        </p:spPr>
        <p:txBody>
          <a:bodyPr wrap="square" lIns="0" tIns="0" rIns="0" bIns="0" rtlCol="0" anchor="ctr"/>
          <a:lstStyle/>
          <a:p>
            <a:pPr indent="0" marL="0">
              <a:buNone/>
            </a:pPr>
            <a:r>
              <a:rPr lang="en-US" sz="1200" b="1" spc="100" kern="0" dirty="0">
                <a:solidFill>
                  <a:srgbClr val="1F8A4F"/>
                </a:solidFill>
                <a:latin typeface="Courier New" pitchFamily="34" charset="0"/>
                <a:ea typeface="Courier New" pitchFamily="34" charset="-122"/>
                <a:cs typeface="Courier New" pitchFamily="34" charset="-120"/>
              </a:rPr>
              <a:t>LAN VIEW</a:t>
            </a:r>
            <a:endParaRPr lang="en-US" sz="1200" dirty="0"/>
          </a:p>
        </p:txBody>
      </p:sp>
      <p:sp>
        <p:nvSpPr>
          <p:cNvPr id="12" name="Text 9"/>
          <p:cNvSpPr txBox="1"/>
          <p:nvPr/>
        </p:nvSpPr>
        <p:spPr>
          <a:xfrm>
            <a:off x="6492240" y="2002536"/>
            <a:ext cx="4809744" cy="457200"/>
          </a:xfrm>
          <a:prstGeom prst="rect">
            <a:avLst/>
          </a:prstGeom>
          <a:noFill/>
          <a:ln/>
        </p:spPr>
        <p:txBody>
          <a:bodyPr wrap="square" lIns="0" tIns="0" rIns="0" bIns="0" rtlCol="0" anchor="t"/>
          <a:lstStyle/>
          <a:p>
            <a:pPr indent="0" marL="0">
              <a:buNone/>
            </a:pPr>
            <a:r>
              <a:rPr lang="en-US" sz="2000" b="1" dirty="0">
                <a:solidFill>
                  <a:srgbClr val="1A1533"/>
                </a:solidFill>
                <a:latin typeface="Courier New" pitchFamily="34" charset="0"/>
                <a:ea typeface="Courier New" pitchFamily="34" charset="-122"/>
                <a:cs typeface="Courier New" pitchFamily="34" charset="-120"/>
              </a:rPr>
              <a:t>db.example.net → 192.168.3.5</a:t>
            </a:r>
            <a:endParaRPr lang="en-US" sz="2000" dirty="0"/>
          </a:p>
        </p:txBody>
      </p:sp>
      <p:sp>
        <p:nvSpPr>
          <p:cNvPr id="13" name="Text 10"/>
          <p:cNvSpPr txBox="1"/>
          <p:nvPr/>
        </p:nvSpPr>
        <p:spPr>
          <a:xfrm>
            <a:off x="6492240" y="2532888"/>
            <a:ext cx="4809744" cy="1014984"/>
          </a:xfrm>
          <a:prstGeom prst="rect">
            <a:avLst/>
          </a:prstGeom>
          <a:noFill/>
          <a:ln/>
        </p:spPr>
        <p:txBody>
          <a:bodyPr wrap="square" lIns="0" tIns="0" rIns="0" bIns="0" rtlCol="0" anchor="t"/>
          <a:lstStyle/>
          <a:p>
            <a:pPr indent="0" marL="0">
              <a:lnSpc>
                <a:spcPct val="115000"/>
              </a:lnSpc>
              <a:buNone/>
            </a:pPr>
            <a:r>
              <a:rPr lang="en-US" sz="1500" dirty="0">
                <a:solidFill>
                  <a:srgbClr val="5F5878"/>
                </a:solidFill>
                <a:latin typeface="Arial" pitchFamily="34" charset="0"/>
                <a:ea typeface="Arial" pitchFamily="34" charset="-122"/>
                <a:cs typeface="Arial" pitchFamily="34" charset="-120"/>
              </a:rPr>
              <a:t>Split-horizon DNS. A real public domain, pointed at a box</a:t>
            </a:r>
            <a:endParaRPr lang="en-US" sz="1500" dirty="0"/>
          </a:p>
          <a:p>
            <a:pPr indent="0" marL="0">
              <a:lnSpc>
                <a:spcPct val="115000"/>
              </a:lnSpc>
              <a:buNone/>
            </a:pPr>
            <a:r>
              <a:rPr lang="en-US" sz="1500" dirty="0">
                <a:solidFill>
                  <a:srgbClr val="5F5878"/>
                </a:solidFill>
                <a:latin typeface="Arial" pitchFamily="34" charset="0"/>
                <a:ea typeface="Arial" pitchFamily="34" charset="-122"/>
                <a:cs typeface="Arial" pitchFamily="34" charset="-120"/>
              </a:rPr>
              <a:t>that lives behind your firewall forever.</a:t>
            </a:r>
            <a:endParaRPr lang="en-US" sz="1500" dirty="0"/>
          </a:p>
        </p:txBody>
      </p:sp>
      <p:sp>
        <p:nvSpPr>
          <p:cNvPr id="14" name="Text 11"/>
          <p:cNvSpPr txBox="1"/>
          <p:nvPr/>
        </p:nvSpPr>
        <p:spPr>
          <a:xfrm>
            <a:off x="594360" y="4069080"/>
            <a:ext cx="10972800" cy="868680"/>
          </a:xfrm>
          <a:prstGeom prst="rect">
            <a:avLst/>
          </a:prstGeom>
          <a:noFill/>
          <a:ln/>
        </p:spPr>
        <p:txBody>
          <a:bodyPr wrap="square" lIns="0" tIns="0" rIns="0" bIns="0" rtlCol="0" anchor="ctr"/>
          <a:lstStyle/>
          <a:p>
            <a:pPr indent="0" marL="0">
              <a:buNone/>
            </a:pPr>
            <a:r>
              <a:rPr lang="en-US" sz="2500" dirty="0">
                <a:solidFill>
                  <a:srgbClr val="1A1533"/>
                </a:solidFill>
                <a:latin typeface="Arial" pitchFamily="34" charset="0"/>
                <a:ea typeface="Arial" pitchFamily="34" charset="-122"/>
                <a:cs typeface="Arial" pitchFamily="34" charset="-120"/>
              </a:rPr>
              <a:t>The CA does not need to reach the box. </a:t>
            </a:r>
            <a:pPr indent="0" marL="0">
              <a:buNone/>
            </a:pPr>
            <a:r>
              <a:rPr lang="en-US" sz="2500" b="1" dirty="0">
                <a:solidFill>
                  <a:srgbClr val="4B18E8"/>
                </a:solidFill>
                <a:latin typeface="Arial" pitchFamily="34" charset="0"/>
                <a:ea typeface="Arial" pitchFamily="34" charset="-122"/>
                <a:cs typeface="Arial" pitchFamily="34" charset="-120"/>
              </a:rPr>
              <a:t>It only needs proof you control the name.</a:t>
            </a:r>
            <a:endParaRPr lang="en-US" sz="2500" dirty="0"/>
          </a:p>
        </p:txBody>
      </p:sp>
      <p:sp>
        <p:nvSpPr>
          <p:cNvPr id="15" name="Text 12"/>
          <p:cNvSpPr txBox="1"/>
          <p:nvPr/>
        </p:nvSpPr>
        <p:spPr>
          <a:xfrm>
            <a:off x="594360" y="5029200"/>
            <a:ext cx="10972800" cy="457200"/>
          </a:xfrm>
          <a:prstGeom prst="rect">
            <a:avLst/>
          </a:prstGeom>
          <a:noFill/>
          <a:ln/>
        </p:spPr>
        <p:txBody>
          <a:bodyPr wrap="square" lIns="0" tIns="0" rIns="0" bIns="0" rtlCol="0" anchor="ctr"/>
          <a:lstStyle/>
          <a:p>
            <a:pPr indent="0" marL="0">
              <a:buNone/>
            </a:pPr>
            <a:r>
              <a:rPr lang="en-US" sz="1800" dirty="0">
                <a:solidFill>
                  <a:srgbClr val="5F5878"/>
                </a:solidFill>
                <a:latin typeface="Arial" pitchFamily="34" charset="0"/>
                <a:ea typeface="Arial" pitchFamily="34" charset="-122"/>
                <a:cs typeface="Arial" pitchFamily="34" charset="-120"/>
              </a:rPr>
              <a:t>That proof is a TXT record. Which means someone has to hold DNS credentials.</a:t>
            </a:r>
            <a:endParaRPr lang="en-US" sz="1800" dirty="0"/>
          </a:p>
        </p:txBody>
      </p:sp>
      <p:sp>
        <p:nvSpPr>
          <p:cNvPr id="16" name="Text 13"/>
          <p:cNvSpPr txBox="1"/>
          <p:nvPr/>
        </p:nvSpPr>
        <p:spPr>
          <a:xfrm>
            <a:off x="594360" y="6144768"/>
            <a:ext cx="11064240" cy="365760"/>
          </a:xfrm>
          <a:prstGeom prst="rect">
            <a:avLst/>
          </a:prstGeom>
          <a:noFill/>
          <a:ln/>
        </p:spPr>
        <p:txBody>
          <a:bodyPr wrap="square" lIns="0" tIns="0" rIns="0" bIns="0" rtlCol="0" anchor="ctr"/>
          <a:lstStyle/>
          <a:p>
            <a:pPr algn="l" indent="0" marL="0">
              <a:buNone/>
            </a:pPr>
            <a:r>
              <a:rPr lang="en-US" sz="1200" dirty="0">
                <a:solidFill>
                  <a:srgbClr val="6B4EF0"/>
                </a:solidFill>
                <a:latin typeface="Courier New" pitchFamily="34" charset="0"/>
                <a:ea typeface="Courier New" pitchFamily="34" charset="-122"/>
                <a:cs typeface="Courier New" pitchFamily="34" charset="-120"/>
              </a:rPr>
              <a:t># dns-01: prove the name, not the network path</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AEAEA"/>
        </a:solidFill>
      </p:bgPr>
    </p:bg>
    <p:spTree>
      <p:nvGrpSpPr>
        <p:cNvPr id="1" name=""/>
        <p:cNvGrpSpPr/>
        <p:nvPr/>
      </p:nvGrpSpPr>
      <p:grpSpPr>
        <a:xfrm>
          <a:off x="0" y="0"/>
          <a:ext cx="0" cy="0"/>
          <a:chOff x="0" y="0"/>
          <a:chExt cx="0" cy="0"/>
        </a:xfrm>
      </p:grpSpPr>
      <p:sp>
        <p:nvSpPr>
          <p:cNvPr id="3" name="Shape 0"/>
          <p:cNvSpPr/>
          <p:nvPr/>
        </p:nvSpPr>
        <p:spPr>
          <a:xfrm>
            <a:off x="566928" y="384048"/>
            <a:ext cx="566928" cy="566928"/>
          </a:xfrm>
          <a:prstGeom prst="ellipse">
            <a:avLst/>
          </a:prstGeom>
          <a:solidFill>
            <a:srgbClr val="4B18E8"/>
          </a:solidFill>
          <a:ln/>
        </p:spPr>
      </p:sp>
      <p:sp>
        <p:nvSpPr>
          <p:cNvPr id="4" name="Text 1"/>
          <p:cNvSpPr txBox="1"/>
          <p:nvPr/>
        </p:nvSpPr>
        <p:spPr>
          <a:xfrm>
            <a:off x="566928" y="3840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2</a:t>
            </a:r>
            <a:endParaRPr lang="en-US" sz="2000" dirty="0"/>
          </a:p>
        </p:txBody>
      </p:sp>
      <p:sp>
        <p:nvSpPr>
          <p:cNvPr id="5" name="Text 2"/>
          <p:cNvSpPr txBox="1"/>
          <p:nvPr/>
        </p:nvSpPr>
        <p:spPr>
          <a:xfrm>
            <a:off x="1325880" y="329184"/>
            <a:ext cx="10332720" cy="713232"/>
          </a:xfrm>
          <a:prstGeom prst="rect">
            <a:avLst/>
          </a:prstGeom>
          <a:noFill/>
          <a:ln/>
        </p:spPr>
        <p:txBody>
          <a:bodyPr wrap="square" lIns="0" tIns="0" rIns="0" bIns="0" rtlCol="0" anchor="ctr"/>
          <a:lstStyle/>
          <a:p>
            <a:pPr algn="l" indent="0" marL="0">
              <a:buNone/>
            </a:pPr>
            <a:r>
              <a:rPr lang="en-US" sz="3400" b="1" dirty="0">
                <a:solidFill>
                  <a:srgbClr val="1A1533"/>
                </a:solidFill>
                <a:latin typeface="Arial" pitchFamily="34" charset="0"/>
                <a:ea typeface="Arial" pitchFamily="34" charset="-122"/>
                <a:cs typeface="Arial" pitchFamily="34" charset="-120"/>
              </a:rPr>
              <a:t>The one prerequisite</a:t>
            </a:r>
            <a:endParaRPr lang="en-US" sz="3400" dirty="0"/>
          </a:p>
        </p:txBody>
      </p:sp>
      <p:sp>
        <p:nvSpPr>
          <p:cNvPr id="6" name="Text 3"/>
          <p:cNvSpPr txBox="1"/>
          <p:nvPr/>
        </p:nvSpPr>
        <p:spPr>
          <a:xfrm>
            <a:off x="822960" y="1170432"/>
            <a:ext cx="10789920" cy="777240"/>
          </a:xfrm>
          <a:prstGeom prst="rect">
            <a:avLst/>
          </a:prstGeom>
          <a:noFill/>
          <a:ln/>
        </p:spPr>
        <p:txBody>
          <a:bodyPr wrap="square" lIns="0" tIns="0" rIns="0" bIns="0" rtlCol="0" anchor="ctr"/>
          <a:lstStyle/>
          <a:p>
            <a:pPr indent="0" marL="0">
              <a:buNone/>
            </a:pPr>
            <a:r>
              <a:rPr lang="en-US" sz="3400" b="1" dirty="0">
                <a:solidFill>
                  <a:srgbClr val="4B18E8"/>
                </a:solidFill>
                <a:latin typeface="Arial" pitchFamily="34" charset="0"/>
                <a:ea typeface="Arial" pitchFamily="34" charset="-122"/>
                <a:cs typeface="Arial" pitchFamily="34" charset="-120"/>
              </a:rPr>
              <a:t>Your internal names have to be public names.</a:t>
            </a:r>
            <a:endParaRPr lang="en-US" sz="3400" dirty="0"/>
          </a:p>
        </p:txBody>
      </p:sp>
      <p:sp>
        <p:nvSpPr>
          <p:cNvPr id="7" name="Shape 4"/>
          <p:cNvSpPr/>
          <p:nvPr/>
        </p:nvSpPr>
        <p:spPr>
          <a:xfrm>
            <a:off x="594360" y="2103120"/>
            <a:ext cx="5394960" cy="2651760"/>
          </a:xfrm>
          <a:prstGeom prst="roundRect">
            <a:avLst>
              <a:gd name="adj" fmla="val 3103"/>
            </a:avLst>
          </a:prstGeom>
          <a:solidFill>
            <a:srgbClr val="FFFFFF"/>
          </a:solidFill>
          <a:ln w="12700">
            <a:solidFill>
              <a:srgbClr val="EF5539"/>
            </a:solidFill>
            <a:prstDash val="solid"/>
          </a:ln>
        </p:spPr>
      </p:sp>
      <p:sp>
        <p:nvSpPr>
          <p:cNvPr id="8" name="Text 5"/>
          <p:cNvSpPr txBox="1"/>
          <p:nvPr/>
        </p:nvSpPr>
        <p:spPr>
          <a:xfrm>
            <a:off x="886968" y="2359152"/>
            <a:ext cx="4809744" cy="256032"/>
          </a:xfrm>
          <a:prstGeom prst="rect">
            <a:avLst/>
          </a:prstGeom>
          <a:noFill/>
          <a:ln/>
        </p:spPr>
        <p:txBody>
          <a:bodyPr wrap="square" lIns="0" tIns="0" rIns="0" bIns="0" rtlCol="0" anchor="ctr"/>
          <a:lstStyle/>
          <a:p>
            <a:pPr indent="0" marL="0">
              <a:buNone/>
            </a:pPr>
            <a:r>
              <a:rPr lang="en-US" sz="1200" b="1" spc="100" kern="0" dirty="0">
                <a:solidFill>
                  <a:srgbClr val="EF5539"/>
                </a:solidFill>
                <a:latin typeface="Courier New" pitchFamily="34" charset="0"/>
                <a:ea typeface="Courier New" pitchFamily="34" charset="-122"/>
                <a:cs typeface="Courier New" pitchFamily="34" charset="-120"/>
              </a:rPr>
              <a:t>NOT NEGOTIABLE</a:t>
            </a:r>
            <a:endParaRPr lang="en-US" sz="1200" dirty="0"/>
          </a:p>
        </p:txBody>
      </p:sp>
      <p:sp>
        <p:nvSpPr>
          <p:cNvPr id="9" name="Text 6"/>
          <p:cNvSpPr txBox="1"/>
          <p:nvPr/>
        </p:nvSpPr>
        <p:spPr>
          <a:xfrm>
            <a:off x="886968" y="2688336"/>
            <a:ext cx="4809744" cy="502920"/>
          </a:xfrm>
          <a:prstGeom prst="rect">
            <a:avLst/>
          </a:prstGeom>
          <a:noFill/>
          <a:ln/>
        </p:spPr>
        <p:txBody>
          <a:bodyPr wrap="square" lIns="0" tIns="0" rIns="0" bIns="0" rtlCol="0" anchor="t"/>
          <a:lstStyle/>
          <a:p>
            <a:pPr indent="0" marL="0">
              <a:buNone/>
            </a:pPr>
            <a:r>
              <a:rPr lang="en-US" sz="2100" b="1" dirty="0">
                <a:solidFill>
                  <a:srgbClr val="1A1533"/>
                </a:solidFill>
                <a:latin typeface="Arial" pitchFamily="34" charset="0"/>
                <a:ea typeface="Arial" pitchFamily="34" charset="-122"/>
                <a:cs typeface="Arial" pitchFamily="34" charset="-120"/>
              </a:rPr>
              <a:t>No .local. No .internal. No .lan.</a:t>
            </a:r>
            <a:endParaRPr lang="en-US" sz="2100" dirty="0"/>
          </a:p>
        </p:txBody>
      </p:sp>
      <p:sp>
        <p:nvSpPr>
          <p:cNvPr id="10" name="Text 7"/>
          <p:cNvSpPr txBox="1"/>
          <p:nvPr/>
        </p:nvSpPr>
        <p:spPr>
          <a:xfrm>
            <a:off x="886968" y="3264408"/>
            <a:ext cx="4809744" cy="1289304"/>
          </a:xfrm>
          <a:prstGeom prst="rect">
            <a:avLst/>
          </a:prstGeom>
          <a:noFill/>
          <a:ln/>
        </p:spPr>
        <p:txBody>
          <a:bodyPr wrap="square" lIns="0" tIns="0" rIns="0" bIns="0" rtlCol="0" anchor="t"/>
          <a:lstStyle/>
          <a:p>
            <a:pPr indent="0" marL="0">
              <a:lnSpc>
                <a:spcPct val="115000"/>
              </a:lnSpc>
              <a:buNone/>
            </a:pPr>
            <a:r>
              <a:rPr lang="en-US" sz="1500" dirty="0">
                <a:solidFill>
                  <a:srgbClr val="1A1533"/>
                </a:solidFill>
                <a:latin typeface="Arial" pitchFamily="34" charset="0"/>
                <a:ea typeface="Arial" pitchFamily="34" charset="-122"/>
                <a:cs typeface="Arial" pitchFamily="34" charset="-120"/>
              </a:rPr>
              <a:t>A public CA will not certify a name nobody owns. You need a real, registered zone.</a:t>
            </a:r>
            <a:endParaRPr lang="en-US" sz="1500" dirty="0"/>
          </a:p>
          <a:p>
            <a:pPr indent="0" marL="0">
              <a:lnSpc>
                <a:spcPct val="115000"/>
              </a:lnSpc>
              <a:buNone/>
            </a:pPr>
            <a:endParaRPr lang="en-US" sz="1500" dirty="0"/>
          </a:p>
          <a:p>
            <a:pPr indent="0" marL="0">
              <a:lnSpc>
                <a:spcPct val="115000"/>
              </a:lnSpc>
              <a:buNone/>
            </a:pPr>
            <a:r>
              <a:rPr lang="en-US" sz="1500" dirty="0">
                <a:solidFill>
                  <a:srgbClr val="1A1533"/>
                </a:solidFill>
                <a:latin typeface="Arial" pitchFamily="34" charset="0"/>
                <a:ea typeface="Arial" pitchFamily="34" charset="-122"/>
                <a:cs typeface="Arial" pitchFamily="34" charset="-120"/>
              </a:rPr>
              <a:t>Good time to use that two-letter domain you have been hoarding.</a:t>
            </a:r>
            <a:endParaRPr lang="en-US" sz="1500" dirty="0"/>
          </a:p>
        </p:txBody>
      </p:sp>
      <p:sp>
        <p:nvSpPr>
          <p:cNvPr id="11" name="Shape 8"/>
          <p:cNvSpPr/>
          <p:nvPr/>
        </p:nvSpPr>
        <p:spPr>
          <a:xfrm>
            <a:off x="6199632" y="2103120"/>
            <a:ext cx="5394960" cy="2651760"/>
          </a:xfrm>
          <a:prstGeom prst="roundRect">
            <a:avLst>
              <a:gd name="adj" fmla="val 3103"/>
            </a:avLst>
          </a:prstGeom>
          <a:solidFill>
            <a:srgbClr val="FFFFFF"/>
          </a:solidFill>
          <a:ln w="12700">
            <a:solidFill>
              <a:srgbClr val="1F8A4F"/>
            </a:solidFill>
            <a:prstDash val="solid"/>
          </a:ln>
        </p:spPr>
      </p:sp>
      <p:sp>
        <p:nvSpPr>
          <p:cNvPr id="12" name="Text 9"/>
          <p:cNvSpPr txBox="1"/>
          <p:nvPr/>
        </p:nvSpPr>
        <p:spPr>
          <a:xfrm>
            <a:off x="6492240" y="2359152"/>
            <a:ext cx="4809744" cy="256032"/>
          </a:xfrm>
          <a:prstGeom prst="rect">
            <a:avLst/>
          </a:prstGeom>
          <a:noFill/>
          <a:ln/>
        </p:spPr>
        <p:txBody>
          <a:bodyPr wrap="square" lIns="0" tIns="0" rIns="0" bIns="0" rtlCol="0" anchor="ctr"/>
          <a:lstStyle/>
          <a:p>
            <a:pPr indent="0" marL="0">
              <a:buNone/>
            </a:pPr>
            <a:r>
              <a:rPr lang="en-US" sz="1200" b="1" spc="100" kern="0" dirty="0">
                <a:solidFill>
                  <a:srgbClr val="1F8A4F"/>
                </a:solidFill>
                <a:latin typeface="Courier New" pitchFamily="34" charset="0"/>
                <a:ea typeface="Courier New" pitchFamily="34" charset="-122"/>
                <a:cs typeface="Courier New" pitchFamily="34" charset="-120"/>
              </a:rPr>
              <a:t>GOOD NEWS</a:t>
            </a:r>
            <a:endParaRPr lang="en-US" sz="1200" dirty="0"/>
          </a:p>
        </p:txBody>
      </p:sp>
      <p:sp>
        <p:nvSpPr>
          <p:cNvPr id="13" name="Text 10"/>
          <p:cNvSpPr txBox="1"/>
          <p:nvPr/>
        </p:nvSpPr>
        <p:spPr>
          <a:xfrm>
            <a:off x="6492240" y="2688336"/>
            <a:ext cx="4809744" cy="502920"/>
          </a:xfrm>
          <a:prstGeom prst="rect">
            <a:avLst/>
          </a:prstGeom>
          <a:noFill/>
          <a:ln/>
        </p:spPr>
        <p:txBody>
          <a:bodyPr wrap="square" lIns="0" tIns="0" rIns="0" bIns="0" rtlCol="0" anchor="t"/>
          <a:lstStyle/>
          <a:p>
            <a:pPr indent="0" marL="0">
              <a:buNone/>
            </a:pPr>
            <a:r>
              <a:rPr lang="en-US" sz="2100" b="1" dirty="0">
                <a:solidFill>
                  <a:srgbClr val="1A1533"/>
                </a:solidFill>
                <a:latin typeface="Arial" pitchFamily="34" charset="0"/>
                <a:ea typeface="Arial" pitchFamily="34" charset="-122"/>
                <a:cs typeface="Arial" pitchFamily="34" charset="-120"/>
              </a:rPr>
              <a:t>Split horizon stopped hurting</a:t>
            </a:r>
            <a:endParaRPr lang="en-US" sz="2100" dirty="0"/>
          </a:p>
        </p:txBody>
      </p:sp>
      <p:sp>
        <p:nvSpPr>
          <p:cNvPr id="14" name="Text 11"/>
          <p:cNvSpPr txBox="1"/>
          <p:nvPr/>
        </p:nvSpPr>
        <p:spPr>
          <a:xfrm>
            <a:off x="6492240" y="3264408"/>
            <a:ext cx="4809744" cy="1289304"/>
          </a:xfrm>
          <a:prstGeom prst="rect">
            <a:avLst/>
          </a:prstGeom>
          <a:noFill/>
          <a:ln/>
        </p:spPr>
        <p:txBody>
          <a:bodyPr wrap="square" lIns="0" tIns="0" rIns="0" bIns="0" rtlCol="0" anchor="t"/>
          <a:lstStyle/>
          <a:p>
            <a:pPr indent="0" marL="0">
              <a:lnSpc>
                <a:spcPct val="115000"/>
              </a:lnSpc>
              <a:buNone/>
            </a:pPr>
            <a:r>
              <a:rPr lang="en-US" sz="1500" dirty="0">
                <a:solidFill>
                  <a:srgbClr val="1A1533"/>
                </a:solidFill>
                <a:latin typeface="Arial" pitchFamily="34" charset="0"/>
                <a:ea typeface="Arial" pitchFamily="34" charset="-122"/>
                <a:cs typeface="Arial" pitchFamily="34" charset="-120"/>
              </a:rPr>
              <a:t>No second copy of the zone to keep in sync. Override only the names you host on the LAN; everything else resolves normally.</a:t>
            </a:r>
            <a:endParaRPr lang="en-US" sz="1500" dirty="0"/>
          </a:p>
        </p:txBody>
      </p:sp>
      <p:sp>
        <p:nvSpPr>
          <p:cNvPr id="15" name="Text 12"/>
          <p:cNvSpPr txBox="1"/>
          <p:nvPr/>
        </p:nvSpPr>
        <p:spPr>
          <a:xfrm>
            <a:off x="822960" y="4983480"/>
            <a:ext cx="10789920" cy="914400"/>
          </a:xfrm>
          <a:prstGeom prst="rect">
            <a:avLst/>
          </a:prstGeom>
          <a:noFill/>
          <a:ln/>
        </p:spPr>
        <p:txBody>
          <a:bodyPr wrap="square" lIns="0" tIns="0" rIns="0" bIns="0" rtlCol="0" anchor="ctr"/>
          <a:lstStyle/>
          <a:p>
            <a:pPr indent="0" marL="0">
              <a:lnSpc>
                <a:spcPct val="125000"/>
              </a:lnSpc>
              <a:buNone/>
            </a:pPr>
            <a:r>
              <a:rPr lang="en-US" sz="1500" dirty="0">
                <a:solidFill>
                  <a:srgbClr val="2E0C93"/>
                </a:solidFill>
                <a:latin typeface="Courier New" pitchFamily="34" charset="0"/>
                <a:ea typeface="Courier New" pitchFamily="34" charset="-122"/>
                <a:cs typeface="Courier New" pitchFamily="34" charset="-120"/>
              </a:rPr>
              <a:t>unbound   local-zone: "example.net." transparent</a:t>
            </a:r>
            <a:endParaRPr lang="en-US" sz="1500" dirty="0"/>
          </a:p>
          <a:p>
            <a:pPr indent="0" marL="0">
              <a:lnSpc>
                <a:spcPct val="125000"/>
              </a:lnSpc>
              <a:buNone/>
            </a:pPr>
            <a:r>
              <a:rPr lang="en-US" sz="1500" dirty="0">
                <a:solidFill>
                  <a:srgbClr val="2E0C93"/>
                </a:solidFill>
                <a:latin typeface="Courier New" pitchFamily="34" charset="0"/>
                <a:ea typeface="Courier New" pitchFamily="34" charset="-122"/>
                <a:cs typeface="Courier New" pitchFamily="34" charset="-120"/>
              </a:rPr>
              <a:t>dnsmasq   address=/db.example.net/192.168.3.5</a:t>
            </a:r>
            <a:endParaRPr lang="en-US" sz="1500" dirty="0"/>
          </a:p>
        </p:txBody>
      </p:sp>
      <p:sp>
        <p:nvSpPr>
          <p:cNvPr id="16" name="Text 13"/>
          <p:cNvSpPr txBox="1"/>
          <p:nvPr/>
        </p:nvSpPr>
        <p:spPr>
          <a:xfrm>
            <a:off x="594360" y="6144768"/>
            <a:ext cx="11064240" cy="365760"/>
          </a:xfrm>
          <a:prstGeom prst="rect">
            <a:avLst/>
          </a:prstGeom>
          <a:noFill/>
          <a:ln/>
        </p:spPr>
        <p:txBody>
          <a:bodyPr wrap="square" lIns="0" tIns="0" rIns="0" bIns="0" rtlCol="0" anchor="ctr"/>
          <a:lstStyle/>
          <a:p>
            <a:pPr algn="l" indent="0" marL="0">
              <a:buNone/>
            </a:pPr>
            <a:r>
              <a:rPr lang="en-US" sz="1200" dirty="0">
                <a:solidFill>
                  <a:srgbClr val="6B4EF0"/>
                </a:solidFill>
                <a:latin typeface="Courier New" pitchFamily="34" charset="0"/>
                <a:ea typeface="Courier New" pitchFamily="34" charset="-122"/>
                <a:cs typeface="Courier New" pitchFamily="34" charset="-120"/>
              </a:rPr>
              <a:t># one line per host, and the rest of your zone never notices</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AEAEA"/>
        </a:solidFill>
      </p:bgPr>
    </p:bg>
    <p:spTree>
      <p:nvGrpSpPr>
        <p:cNvPr id="1" name=""/>
        <p:cNvGrpSpPr/>
        <p:nvPr/>
      </p:nvGrpSpPr>
      <p:grpSpPr>
        <a:xfrm>
          <a:off x="0" y="0"/>
          <a:ext cx="0" cy="0"/>
          <a:chOff x="0" y="0"/>
          <a:chExt cx="0" cy="0"/>
        </a:xfrm>
      </p:grpSpPr>
      <p:sp>
        <p:nvSpPr>
          <p:cNvPr id="3" name="Shape 0"/>
          <p:cNvSpPr/>
          <p:nvPr/>
        </p:nvSpPr>
        <p:spPr>
          <a:xfrm>
            <a:off x="566928" y="384048"/>
            <a:ext cx="566928" cy="566928"/>
          </a:xfrm>
          <a:prstGeom prst="ellipse">
            <a:avLst/>
          </a:prstGeom>
          <a:solidFill>
            <a:srgbClr val="4B18E8"/>
          </a:solidFill>
          <a:ln/>
        </p:spPr>
      </p:sp>
      <p:sp>
        <p:nvSpPr>
          <p:cNvPr id="4" name="Text 1"/>
          <p:cNvSpPr txBox="1"/>
          <p:nvPr/>
        </p:nvSpPr>
        <p:spPr>
          <a:xfrm>
            <a:off x="566928" y="3840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3</a:t>
            </a:r>
            <a:endParaRPr lang="en-US" sz="2000" dirty="0"/>
          </a:p>
        </p:txBody>
      </p:sp>
      <p:sp>
        <p:nvSpPr>
          <p:cNvPr id="5" name="Text 2"/>
          <p:cNvSpPr txBox="1"/>
          <p:nvPr/>
        </p:nvSpPr>
        <p:spPr>
          <a:xfrm>
            <a:off x="1325880" y="329184"/>
            <a:ext cx="10332720" cy="713232"/>
          </a:xfrm>
          <a:prstGeom prst="rect">
            <a:avLst/>
          </a:prstGeom>
          <a:noFill/>
          <a:ln/>
        </p:spPr>
        <p:txBody>
          <a:bodyPr wrap="square" lIns="0" tIns="0" rIns="0" bIns="0" rtlCol="0" anchor="ctr"/>
          <a:lstStyle/>
          <a:p>
            <a:pPr algn="l" indent="0" marL="0">
              <a:buNone/>
            </a:pPr>
            <a:r>
              <a:rPr lang="en-US" sz="3400" b="1" dirty="0">
                <a:solidFill>
                  <a:srgbClr val="1A1533"/>
                </a:solidFill>
                <a:latin typeface="Arial" pitchFamily="34" charset="0"/>
                <a:ea typeface="Arial" pitchFamily="34" charset="-122"/>
                <a:cs typeface="Arial" pitchFamily="34" charset="-120"/>
              </a:rPr>
              <a:t>The three usual answers</a:t>
            </a:r>
            <a:endParaRPr lang="en-US" sz="3400" dirty="0"/>
          </a:p>
        </p:txBody>
      </p:sp>
      <p:sp>
        <p:nvSpPr>
          <p:cNvPr id="6" name="Shape 3"/>
          <p:cNvSpPr/>
          <p:nvPr/>
        </p:nvSpPr>
        <p:spPr>
          <a:xfrm>
            <a:off x="594360" y="1481328"/>
            <a:ext cx="3529584" cy="3566160"/>
          </a:xfrm>
          <a:prstGeom prst="roundRect">
            <a:avLst>
              <a:gd name="adj" fmla="val 2332"/>
            </a:avLst>
          </a:prstGeom>
          <a:solidFill>
            <a:srgbClr val="FFFFFF"/>
          </a:solidFill>
          <a:ln w="12700">
            <a:solidFill>
              <a:srgbClr val="CFC6EE"/>
            </a:solidFill>
            <a:prstDash val="solid"/>
          </a:ln>
        </p:spPr>
      </p:sp>
      <p:sp>
        <p:nvSpPr>
          <p:cNvPr id="7" name="Text 4"/>
          <p:cNvSpPr txBox="1"/>
          <p:nvPr/>
        </p:nvSpPr>
        <p:spPr>
          <a:xfrm>
            <a:off x="886968" y="1737360"/>
            <a:ext cx="2944368" cy="256032"/>
          </a:xfrm>
          <a:prstGeom prst="rect">
            <a:avLst/>
          </a:prstGeom>
          <a:noFill/>
          <a:ln/>
        </p:spPr>
        <p:txBody>
          <a:bodyPr wrap="square" lIns="0" tIns="0" rIns="0" bIns="0" rtlCol="0" anchor="ctr"/>
          <a:lstStyle/>
          <a:p>
            <a:pPr indent="0" marL="0">
              <a:buNone/>
            </a:pPr>
            <a:r>
              <a:rPr lang="en-US" sz="1200" b="1" spc="100" kern="0" dirty="0">
                <a:solidFill>
                  <a:srgbClr val="EF5539"/>
                </a:solidFill>
                <a:latin typeface="Courier New" pitchFamily="34" charset="0"/>
                <a:ea typeface="Courier New" pitchFamily="34" charset="-122"/>
                <a:cs typeface="Courier New" pitchFamily="34" charset="-120"/>
              </a:rPr>
              <a:t>OPTION A</a:t>
            </a:r>
            <a:endParaRPr lang="en-US" sz="1200" dirty="0"/>
          </a:p>
        </p:txBody>
      </p:sp>
      <p:sp>
        <p:nvSpPr>
          <p:cNvPr id="8" name="Text 5"/>
          <p:cNvSpPr txBox="1"/>
          <p:nvPr/>
        </p:nvSpPr>
        <p:spPr>
          <a:xfrm>
            <a:off x="886968" y="2066544"/>
            <a:ext cx="2944368" cy="960120"/>
          </a:xfrm>
          <a:prstGeom prst="rect">
            <a:avLst/>
          </a:prstGeom>
          <a:noFill/>
          <a:ln/>
        </p:spPr>
        <p:txBody>
          <a:bodyPr wrap="square" lIns="0" tIns="0" rIns="0" bIns="0" rtlCol="0" anchor="t"/>
          <a:lstStyle/>
          <a:p>
            <a:pPr indent="0" marL="0">
              <a:buNone/>
            </a:pPr>
            <a:r>
              <a:rPr lang="en-US" sz="2200" b="1" dirty="0">
                <a:solidFill>
                  <a:srgbClr val="1A1533"/>
                </a:solidFill>
                <a:latin typeface="Arial" pitchFamily="34" charset="0"/>
                <a:ea typeface="Arial" pitchFamily="34" charset="-122"/>
                <a:cs typeface="Arial" pitchFamily="34" charset="-120"/>
              </a:rPr>
              <a:t>DNS token</a:t>
            </a:r>
            <a:endParaRPr lang="en-US" sz="2200" dirty="0"/>
          </a:p>
          <a:p>
            <a:pPr indent="0" marL="0">
              <a:buNone/>
            </a:pPr>
            <a:r>
              <a:rPr lang="en-US" sz="2200" b="1" dirty="0">
                <a:solidFill>
                  <a:srgbClr val="1A1533"/>
                </a:solidFill>
                <a:latin typeface="Arial" pitchFamily="34" charset="0"/>
                <a:ea typeface="Arial" pitchFamily="34" charset="-122"/>
                <a:cs typeface="Arial" pitchFamily="34" charset="-120"/>
              </a:rPr>
              <a:t>on every host</a:t>
            </a:r>
            <a:endParaRPr lang="en-US" sz="2200" dirty="0"/>
          </a:p>
        </p:txBody>
      </p:sp>
      <p:sp>
        <p:nvSpPr>
          <p:cNvPr id="9" name="Text 6"/>
          <p:cNvSpPr txBox="1"/>
          <p:nvPr/>
        </p:nvSpPr>
        <p:spPr>
          <a:xfrm>
            <a:off x="886968" y="3099816"/>
            <a:ext cx="2944368" cy="1746504"/>
          </a:xfrm>
          <a:prstGeom prst="rect">
            <a:avLst/>
          </a:prstGeom>
          <a:noFill/>
          <a:ln/>
        </p:spPr>
        <p:txBody>
          <a:bodyPr wrap="square" lIns="0" tIns="0" rIns="0" bIns="0" rtlCol="0" anchor="t"/>
          <a:lstStyle/>
          <a:p>
            <a:pPr indent="0" marL="0">
              <a:lnSpc>
                <a:spcPct val="115000"/>
              </a:lnSpc>
              <a:buNone/>
            </a:pPr>
            <a:r>
              <a:rPr lang="en-US" sz="1500" dirty="0">
                <a:solidFill>
                  <a:srgbClr val="5F5878"/>
                </a:solidFill>
                <a:latin typeface="Arial" pitchFamily="34" charset="0"/>
                <a:ea typeface="Arial" pitchFamily="34" charset="-122"/>
                <a:cs typeface="Arial" pitchFamily="34" charset="-120"/>
              </a:rPr>
              <a:t>Every box that needs a cert now holds a credential that can rewrite your whole zone.</a:t>
            </a:r>
            <a:endParaRPr lang="en-US" sz="1500" dirty="0"/>
          </a:p>
          <a:p>
            <a:pPr indent="0" marL="0">
              <a:lnSpc>
                <a:spcPct val="115000"/>
              </a:lnSpc>
              <a:buNone/>
            </a:pPr>
            <a:endParaRPr lang="en-US" sz="1500" dirty="0"/>
          </a:p>
          <a:p>
            <a:pPr indent="0" marL="0">
              <a:lnSpc>
                <a:spcPct val="115000"/>
              </a:lnSpc>
              <a:buNone/>
            </a:pPr>
            <a:r>
              <a:rPr lang="en-US" sz="1500" dirty="0">
                <a:solidFill>
                  <a:srgbClr val="5F5878"/>
                </a:solidFill>
                <a:latin typeface="Arial" pitchFamily="34" charset="0"/>
                <a:ea typeface="Arial" pitchFamily="34" charset="-122"/>
                <a:cs typeface="Arial" pitchFamily="34" charset="-120"/>
              </a:rPr>
              <a:t>Including the printer.</a:t>
            </a:r>
            <a:endParaRPr lang="en-US" sz="1500" dirty="0"/>
          </a:p>
        </p:txBody>
      </p:sp>
      <p:sp>
        <p:nvSpPr>
          <p:cNvPr id="10" name="Shape 7"/>
          <p:cNvSpPr/>
          <p:nvPr/>
        </p:nvSpPr>
        <p:spPr>
          <a:xfrm>
            <a:off x="4325112" y="1481328"/>
            <a:ext cx="3529584" cy="3566160"/>
          </a:xfrm>
          <a:prstGeom prst="roundRect">
            <a:avLst>
              <a:gd name="adj" fmla="val 2332"/>
            </a:avLst>
          </a:prstGeom>
          <a:solidFill>
            <a:srgbClr val="FFFFFF"/>
          </a:solidFill>
          <a:ln w="12700">
            <a:solidFill>
              <a:srgbClr val="CFC6EE"/>
            </a:solidFill>
            <a:prstDash val="solid"/>
          </a:ln>
        </p:spPr>
      </p:sp>
      <p:sp>
        <p:nvSpPr>
          <p:cNvPr id="11" name="Text 8"/>
          <p:cNvSpPr txBox="1"/>
          <p:nvPr/>
        </p:nvSpPr>
        <p:spPr>
          <a:xfrm>
            <a:off x="4617720" y="1737360"/>
            <a:ext cx="2944368" cy="256032"/>
          </a:xfrm>
          <a:prstGeom prst="rect">
            <a:avLst/>
          </a:prstGeom>
          <a:noFill/>
          <a:ln/>
        </p:spPr>
        <p:txBody>
          <a:bodyPr wrap="square" lIns="0" tIns="0" rIns="0" bIns="0" rtlCol="0" anchor="ctr"/>
          <a:lstStyle/>
          <a:p>
            <a:pPr indent="0" marL="0">
              <a:buNone/>
            </a:pPr>
            <a:r>
              <a:rPr lang="en-US" sz="1200" b="1" spc="100" kern="0" dirty="0">
                <a:solidFill>
                  <a:srgbClr val="EF5539"/>
                </a:solidFill>
                <a:latin typeface="Courier New" pitchFamily="34" charset="0"/>
                <a:ea typeface="Courier New" pitchFamily="34" charset="-122"/>
                <a:cs typeface="Courier New" pitchFamily="34" charset="-120"/>
              </a:rPr>
              <a:t>OPTION B</a:t>
            </a:r>
            <a:endParaRPr lang="en-US" sz="1200" dirty="0"/>
          </a:p>
        </p:txBody>
      </p:sp>
      <p:sp>
        <p:nvSpPr>
          <p:cNvPr id="12" name="Text 9"/>
          <p:cNvSpPr txBox="1"/>
          <p:nvPr/>
        </p:nvSpPr>
        <p:spPr>
          <a:xfrm>
            <a:off x="4617720" y="2066544"/>
            <a:ext cx="2944368" cy="960120"/>
          </a:xfrm>
          <a:prstGeom prst="rect">
            <a:avLst/>
          </a:prstGeom>
          <a:noFill/>
          <a:ln/>
        </p:spPr>
        <p:txBody>
          <a:bodyPr wrap="square" lIns="0" tIns="0" rIns="0" bIns="0" rtlCol="0" anchor="t"/>
          <a:lstStyle/>
          <a:p>
            <a:pPr indent="0" marL="0">
              <a:buNone/>
            </a:pPr>
            <a:r>
              <a:rPr lang="en-US" sz="2200" b="1" dirty="0">
                <a:solidFill>
                  <a:srgbClr val="1A1533"/>
                </a:solidFill>
                <a:latin typeface="Arial" pitchFamily="34" charset="0"/>
                <a:ea typeface="Arial" pitchFamily="34" charset="-122"/>
                <a:cs typeface="Arial" pitchFamily="34" charset="-120"/>
              </a:rPr>
              <a:t>Run your own CA</a:t>
            </a:r>
            <a:endParaRPr lang="en-US" sz="2200" dirty="0"/>
          </a:p>
        </p:txBody>
      </p:sp>
      <p:sp>
        <p:nvSpPr>
          <p:cNvPr id="13" name="Text 10"/>
          <p:cNvSpPr txBox="1"/>
          <p:nvPr/>
        </p:nvSpPr>
        <p:spPr>
          <a:xfrm>
            <a:off x="4617720" y="3099816"/>
            <a:ext cx="2944368" cy="1746504"/>
          </a:xfrm>
          <a:prstGeom prst="rect">
            <a:avLst/>
          </a:prstGeom>
          <a:noFill/>
          <a:ln/>
        </p:spPr>
        <p:txBody>
          <a:bodyPr wrap="square" lIns="0" tIns="0" rIns="0" bIns="0" rtlCol="0" anchor="t"/>
          <a:lstStyle/>
          <a:p>
            <a:pPr indent="0" marL="0">
              <a:lnSpc>
                <a:spcPct val="115000"/>
              </a:lnSpc>
              <a:buNone/>
            </a:pPr>
            <a:r>
              <a:rPr lang="en-US" sz="1500" dirty="0">
                <a:solidFill>
                  <a:srgbClr val="5F5878"/>
                </a:solidFill>
                <a:latin typeface="Arial" pitchFamily="34" charset="0"/>
                <a:ea typeface="Arial" pitchFamily="34" charset="-122"/>
                <a:cs typeface="Arial" pitchFamily="34" charset="-120"/>
              </a:rPr>
              <a:t>Genuinely fine — until you have to install that root on every laptop, phone, CI runner and contractor.</a:t>
            </a:r>
            <a:endParaRPr lang="en-US" sz="1500" dirty="0"/>
          </a:p>
          <a:p>
            <a:pPr indent="0" marL="0">
              <a:lnSpc>
                <a:spcPct val="115000"/>
              </a:lnSpc>
              <a:buNone/>
            </a:pPr>
            <a:endParaRPr lang="en-US" sz="1500" dirty="0"/>
          </a:p>
          <a:p>
            <a:pPr indent="0" marL="0">
              <a:lnSpc>
                <a:spcPct val="115000"/>
              </a:lnSpc>
              <a:buNone/>
            </a:pPr>
            <a:r>
              <a:rPr lang="en-US" sz="1500" dirty="0">
                <a:solidFill>
                  <a:srgbClr val="5F5878"/>
                </a:solidFill>
                <a:latin typeface="Arial" pitchFamily="34" charset="0"/>
                <a:ea typeface="Arial" pitchFamily="34" charset="-122"/>
                <a:cs typeface="Arial" pitchFamily="34" charset="-120"/>
              </a:rPr>
              <a:t>Forever.</a:t>
            </a:r>
            <a:endParaRPr lang="en-US" sz="1500" dirty="0"/>
          </a:p>
        </p:txBody>
      </p:sp>
      <p:sp>
        <p:nvSpPr>
          <p:cNvPr id="14" name="Shape 11"/>
          <p:cNvSpPr/>
          <p:nvPr/>
        </p:nvSpPr>
        <p:spPr>
          <a:xfrm>
            <a:off x="8055864" y="1481328"/>
            <a:ext cx="3529584" cy="3566160"/>
          </a:xfrm>
          <a:prstGeom prst="roundRect">
            <a:avLst>
              <a:gd name="adj" fmla="val 2332"/>
            </a:avLst>
          </a:prstGeom>
          <a:solidFill>
            <a:srgbClr val="FFFFFF"/>
          </a:solidFill>
          <a:ln w="12700">
            <a:solidFill>
              <a:srgbClr val="CFC6EE"/>
            </a:solidFill>
            <a:prstDash val="solid"/>
          </a:ln>
        </p:spPr>
      </p:sp>
      <p:sp>
        <p:nvSpPr>
          <p:cNvPr id="15" name="Text 12"/>
          <p:cNvSpPr txBox="1"/>
          <p:nvPr/>
        </p:nvSpPr>
        <p:spPr>
          <a:xfrm>
            <a:off x="8348472" y="1737360"/>
            <a:ext cx="2944368" cy="256032"/>
          </a:xfrm>
          <a:prstGeom prst="rect">
            <a:avLst/>
          </a:prstGeom>
          <a:noFill/>
          <a:ln/>
        </p:spPr>
        <p:txBody>
          <a:bodyPr wrap="square" lIns="0" tIns="0" rIns="0" bIns="0" rtlCol="0" anchor="ctr"/>
          <a:lstStyle/>
          <a:p>
            <a:pPr indent="0" marL="0">
              <a:buNone/>
            </a:pPr>
            <a:r>
              <a:rPr lang="en-US" sz="1200" b="1" spc="100" kern="0" dirty="0">
                <a:solidFill>
                  <a:srgbClr val="EF5539"/>
                </a:solidFill>
                <a:latin typeface="Courier New" pitchFamily="34" charset="0"/>
                <a:ea typeface="Courier New" pitchFamily="34" charset="-122"/>
                <a:cs typeface="Courier New" pitchFamily="34" charset="-120"/>
              </a:rPr>
              <a:t>OPTION C</a:t>
            </a:r>
            <a:endParaRPr lang="en-US" sz="1200" dirty="0"/>
          </a:p>
        </p:txBody>
      </p:sp>
      <p:sp>
        <p:nvSpPr>
          <p:cNvPr id="16" name="Text 13"/>
          <p:cNvSpPr txBox="1"/>
          <p:nvPr/>
        </p:nvSpPr>
        <p:spPr>
          <a:xfrm>
            <a:off x="8348472" y="2066544"/>
            <a:ext cx="2944368" cy="960120"/>
          </a:xfrm>
          <a:prstGeom prst="rect">
            <a:avLst/>
          </a:prstGeom>
          <a:noFill/>
          <a:ln/>
        </p:spPr>
        <p:txBody>
          <a:bodyPr wrap="square" lIns="0" tIns="0" rIns="0" bIns="0" rtlCol="0" anchor="t"/>
          <a:lstStyle/>
          <a:p>
            <a:pPr indent="0" marL="0">
              <a:buNone/>
            </a:pPr>
            <a:r>
              <a:rPr lang="en-US" sz="2200" b="1" dirty="0">
                <a:solidFill>
                  <a:srgbClr val="1A1533"/>
                </a:solidFill>
                <a:latin typeface="Arial" pitchFamily="34" charset="0"/>
                <a:ea typeface="Arial" pitchFamily="34" charset="-122"/>
                <a:cs typeface="Arial" pitchFamily="34" charset="-120"/>
              </a:rPr>
              <a:t>Self-signed and</a:t>
            </a:r>
            <a:endParaRPr lang="en-US" sz="2200" dirty="0"/>
          </a:p>
          <a:p>
            <a:pPr indent="0" marL="0">
              <a:buNone/>
            </a:pPr>
            <a:r>
              <a:rPr lang="en-US" sz="2200" b="1" dirty="0">
                <a:solidFill>
                  <a:srgbClr val="1A1533"/>
                </a:solidFill>
                <a:latin typeface="Arial" pitchFamily="34" charset="0"/>
                <a:ea typeface="Arial" pitchFamily="34" charset="-122"/>
                <a:cs typeface="Arial" pitchFamily="34" charset="-120"/>
              </a:rPr>
              <a:t>look away</a:t>
            </a:r>
            <a:endParaRPr lang="en-US" sz="2200" dirty="0"/>
          </a:p>
        </p:txBody>
      </p:sp>
      <p:sp>
        <p:nvSpPr>
          <p:cNvPr id="17" name="Text 14"/>
          <p:cNvSpPr txBox="1"/>
          <p:nvPr/>
        </p:nvSpPr>
        <p:spPr>
          <a:xfrm>
            <a:off x="8348472" y="3099816"/>
            <a:ext cx="2944368" cy="1746504"/>
          </a:xfrm>
          <a:prstGeom prst="rect">
            <a:avLst/>
          </a:prstGeom>
          <a:noFill/>
          <a:ln/>
        </p:spPr>
        <p:txBody>
          <a:bodyPr wrap="square" lIns="0" tIns="0" rIns="0" bIns="0" rtlCol="0" anchor="t"/>
          <a:lstStyle/>
          <a:p>
            <a:pPr indent="0" marL="0">
              <a:lnSpc>
                <a:spcPct val="115000"/>
              </a:lnSpc>
              <a:buNone/>
            </a:pPr>
            <a:r>
              <a:rPr lang="en-US" sz="1500" dirty="0">
                <a:solidFill>
                  <a:srgbClr val="5F5878"/>
                </a:solidFill>
                <a:latin typeface="Arial" pitchFamily="34" charset="0"/>
                <a:ea typeface="Arial" pitchFamily="34" charset="-122"/>
                <a:cs typeface="Arial" pitchFamily="34" charset="-120"/>
              </a:rPr>
              <a:t>The industry standard.</a:t>
            </a:r>
            <a:endParaRPr lang="en-US" sz="1500" dirty="0"/>
          </a:p>
          <a:p>
            <a:pPr indent="0" marL="0">
              <a:lnSpc>
                <a:spcPct val="115000"/>
              </a:lnSpc>
              <a:buNone/>
            </a:pPr>
            <a:endParaRPr lang="en-US" sz="1500" dirty="0"/>
          </a:p>
          <a:p>
            <a:pPr indent="0" marL="0">
              <a:lnSpc>
                <a:spcPct val="115000"/>
              </a:lnSpc>
              <a:buNone/>
            </a:pPr>
            <a:r>
              <a:rPr lang="en-US" sz="1500" dirty="0">
                <a:solidFill>
                  <a:srgbClr val="5F5878"/>
                </a:solidFill>
                <a:latin typeface="Arial" pitchFamily="34" charset="0"/>
                <a:ea typeface="Arial" pitchFamily="34" charset="-122"/>
                <a:cs typeface="Arial" pitchFamily="34" charset="-120"/>
              </a:rPr>
              <a:t>See the previous slide.</a:t>
            </a:r>
            <a:endParaRPr lang="en-US" sz="1500" dirty="0"/>
          </a:p>
        </p:txBody>
      </p:sp>
      <p:sp>
        <p:nvSpPr>
          <p:cNvPr id="18" name="Text 15"/>
          <p:cNvSpPr txBox="1"/>
          <p:nvPr/>
        </p:nvSpPr>
        <p:spPr>
          <a:xfrm>
            <a:off x="594360" y="6144768"/>
            <a:ext cx="11064240" cy="365760"/>
          </a:xfrm>
          <a:prstGeom prst="rect">
            <a:avLst/>
          </a:prstGeom>
          <a:noFill/>
          <a:ln/>
        </p:spPr>
        <p:txBody>
          <a:bodyPr wrap="square" lIns="0" tIns="0" rIns="0" bIns="0" rtlCol="0" anchor="ctr"/>
          <a:lstStyle/>
          <a:p>
            <a:pPr algn="l" indent="0" marL="0">
              <a:buNone/>
            </a:pPr>
            <a:r>
              <a:rPr lang="en-US" sz="1200" dirty="0">
                <a:solidFill>
                  <a:srgbClr val="6B4EF0"/>
                </a:solidFill>
                <a:latin typeface="Courier New" pitchFamily="34" charset="0"/>
                <a:ea typeface="Courier New" pitchFamily="34" charset="-122"/>
                <a:cs typeface="Courier New" pitchFamily="34" charset="-120"/>
              </a:rPr>
              <a:t># all three work. none of them made me happy.</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AEAEA"/>
        </a:solidFill>
      </p:bgPr>
    </p:bg>
    <p:spTree>
      <p:nvGrpSpPr>
        <p:cNvPr id="1" name=""/>
        <p:cNvGrpSpPr/>
        <p:nvPr/>
      </p:nvGrpSpPr>
      <p:grpSpPr>
        <a:xfrm>
          <a:off x="0" y="0"/>
          <a:ext cx="0" cy="0"/>
          <a:chOff x="0" y="0"/>
          <a:chExt cx="0" cy="0"/>
        </a:xfrm>
      </p:grpSpPr>
      <p:sp>
        <p:nvSpPr>
          <p:cNvPr id="3" name="Shape 0"/>
          <p:cNvSpPr/>
          <p:nvPr/>
        </p:nvSpPr>
        <p:spPr>
          <a:xfrm>
            <a:off x="566928" y="384048"/>
            <a:ext cx="566928" cy="566928"/>
          </a:xfrm>
          <a:prstGeom prst="ellipse">
            <a:avLst/>
          </a:prstGeom>
          <a:solidFill>
            <a:srgbClr val="4B18E8"/>
          </a:solidFill>
          <a:ln/>
        </p:spPr>
      </p:sp>
      <p:sp>
        <p:nvSpPr>
          <p:cNvPr id="4" name="Text 1"/>
          <p:cNvSpPr txBox="1"/>
          <p:nvPr/>
        </p:nvSpPr>
        <p:spPr>
          <a:xfrm>
            <a:off x="566928" y="3840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4</a:t>
            </a:r>
            <a:endParaRPr lang="en-US" sz="2000" dirty="0"/>
          </a:p>
        </p:txBody>
      </p:sp>
      <p:sp>
        <p:nvSpPr>
          <p:cNvPr id="5" name="Text 2"/>
          <p:cNvSpPr txBox="1"/>
          <p:nvPr/>
        </p:nvSpPr>
        <p:spPr>
          <a:xfrm>
            <a:off x="1325880" y="329184"/>
            <a:ext cx="10332720" cy="713232"/>
          </a:xfrm>
          <a:prstGeom prst="rect">
            <a:avLst/>
          </a:prstGeom>
          <a:noFill/>
          <a:ln/>
        </p:spPr>
        <p:txBody>
          <a:bodyPr wrap="square" lIns="0" tIns="0" rIns="0" bIns="0" rtlCol="0" anchor="ctr"/>
          <a:lstStyle/>
          <a:p>
            <a:pPr algn="l" indent="0" marL="0">
              <a:buNone/>
            </a:pPr>
            <a:r>
              <a:rPr lang="en-US" sz="3400" b="1" dirty="0">
                <a:solidFill>
                  <a:srgbClr val="1A1533"/>
                </a:solidFill>
                <a:latin typeface="Arial" pitchFamily="34" charset="0"/>
                <a:ea typeface="Arial" pitchFamily="34" charset="-122"/>
                <a:cs typeface="Arial" pitchFamily="34" charset="-120"/>
              </a:rPr>
              <a:t>Why I built it anyway</a:t>
            </a:r>
            <a:endParaRPr lang="en-US" sz="3400" dirty="0"/>
          </a:p>
        </p:txBody>
      </p:sp>
      <p:sp>
        <p:nvSpPr>
          <p:cNvPr id="6" name="Shape 3"/>
          <p:cNvSpPr/>
          <p:nvPr/>
        </p:nvSpPr>
        <p:spPr>
          <a:xfrm>
            <a:off x="594360" y="1554480"/>
            <a:ext cx="3529584" cy="2834640"/>
          </a:xfrm>
          <a:prstGeom prst="roundRect">
            <a:avLst>
              <a:gd name="adj" fmla="val 2903"/>
            </a:avLst>
          </a:prstGeom>
          <a:solidFill>
            <a:srgbClr val="FFFFFF"/>
          </a:solidFill>
          <a:ln w="12700">
            <a:solidFill>
              <a:srgbClr val="EDE8FD"/>
            </a:solidFill>
            <a:prstDash val="solid"/>
          </a:ln>
        </p:spPr>
      </p:sp>
      <p:sp>
        <p:nvSpPr>
          <p:cNvPr id="7" name="Text 4"/>
          <p:cNvSpPr txBox="1"/>
          <p:nvPr/>
        </p:nvSpPr>
        <p:spPr>
          <a:xfrm>
            <a:off x="594360" y="1737360"/>
            <a:ext cx="3529584" cy="1371600"/>
          </a:xfrm>
          <a:prstGeom prst="rect">
            <a:avLst/>
          </a:prstGeom>
          <a:noFill/>
          <a:ln/>
        </p:spPr>
        <p:txBody>
          <a:bodyPr wrap="square" lIns="0" tIns="0" rIns="0" bIns="0" rtlCol="0" anchor="ctr"/>
          <a:lstStyle/>
          <a:p>
            <a:pPr algn="ctr" indent="0" marL="0">
              <a:buNone/>
            </a:pPr>
            <a:r>
              <a:rPr lang="en-US" sz="8000" b="1" dirty="0">
                <a:solidFill>
                  <a:srgbClr val="EF5539"/>
                </a:solidFill>
                <a:latin typeface="Arial" pitchFamily="34" charset="0"/>
                <a:ea typeface="Arial" pitchFamily="34" charset="-122"/>
                <a:cs typeface="Arial" pitchFamily="34" charset="-120"/>
              </a:rPr>
              <a:t>0</a:t>
            </a:r>
            <a:endParaRPr lang="en-US" sz="8000" dirty="0"/>
          </a:p>
        </p:txBody>
      </p:sp>
      <p:sp>
        <p:nvSpPr>
          <p:cNvPr id="8" name="Text 5"/>
          <p:cNvSpPr txBox="1"/>
          <p:nvPr/>
        </p:nvSpPr>
        <p:spPr>
          <a:xfrm>
            <a:off x="868680" y="3200400"/>
            <a:ext cx="2980944" cy="1005840"/>
          </a:xfrm>
          <a:prstGeom prst="rect">
            <a:avLst/>
          </a:prstGeom>
          <a:noFill/>
          <a:ln/>
        </p:spPr>
        <p:txBody>
          <a:bodyPr wrap="square" lIns="0" tIns="0" rIns="0" bIns="0" rtlCol="0" anchor="t"/>
          <a:lstStyle/>
          <a:p>
            <a:pPr algn="ctr" indent="0" marL="0">
              <a:lnSpc>
                <a:spcPct val="115000"/>
              </a:lnSpc>
              <a:buNone/>
            </a:pPr>
            <a:r>
              <a:rPr lang="en-US" sz="1600" dirty="0">
                <a:solidFill>
                  <a:srgbClr val="5F5878"/>
                </a:solidFill>
                <a:latin typeface="Arial" pitchFamily="34" charset="0"/>
                <a:ea typeface="Arial" pitchFamily="34" charset="-122"/>
                <a:cs typeface="Arial" pitchFamily="34" charset="-120"/>
              </a:rPr>
              <a:t>appliances that will</a:t>
            </a:r>
            <a:endParaRPr lang="en-US" sz="1600" dirty="0"/>
          </a:p>
          <a:p>
            <a:pPr algn="ctr" indent="0" marL="0">
              <a:lnSpc>
                <a:spcPct val="115000"/>
              </a:lnSpc>
              <a:buNone/>
            </a:pPr>
            <a:r>
              <a:rPr lang="en-US" sz="1600" dirty="0">
                <a:solidFill>
                  <a:srgbClr val="5F5878"/>
                </a:solidFill>
                <a:latin typeface="Arial" pitchFamily="34" charset="0"/>
                <a:ea typeface="Arial" pitchFamily="34" charset="-122"/>
                <a:cs typeface="Arial" pitchFamily="34" charset="-120"/>
              </a:rPr>
              <a:t>ever run certbot</a:t>
            </a:r>
            <a:endParaRPr lang="en-US" sz="1600" dirty="0"/>
          </a:p>
        </p:txBody>
      </p:sp>
      <p:sp>
        <p:nvSpPr>
          <p:cNvPr id="9" name="Shape 6"/>
          <p:cNvSpPr/>
          <p:nvPr/>
        </p:nvSpPr>
        <p:spPr>
          <a:xfrm>
            <a:off x="4325112" y="1554480"/>
            <a:ext cx="3529584" cy="2834640"/>
          </a:xfrm>
          <a:prstGeom prst="roundRect">
            <a:avLst>
              <a:gd name="adj" fmla="val 2903"/>
            </a:avLst>
          </a:prstGeom>
          <a:solidFill>
            <a:srgbClr val="FFFFFF"/>
          </a:solidFill>
          <a:ln w="12700">
            <a:solidFill>
              <a:srgbClr val="EDE8FD"/>
            </a:solidFill>
            <a:prstDash val="solid"/>
          </a:ln>
        </p:spPr>
      </p:sp>
      <p:sp>
        <p:nvSpPr>
          <p:cNvPr id="10" name="Text 7"/>
          <p:cNvSpPr txBox="1"/>
          <p:nvPr/>
        </p:nvSpPr>
        <p:spPr>
          <a:xfrm>
            <a:off x="4325112" y="1737360"/>
            <a:ext cx="3529584" cy="1371600"/>
          </a:xfrm>
          <a:prstGeom prst="rect">
            <a:avLst/>
          </a:prstGeom>
          <a:noFill/>
          <a:ln/>
        </p:spPr>
        <p:txBody>
          <a:bodyPr wrap="square" lIns="0" tIns="0" rIns="0" bIns="0" rtlCol="0" anchor="ctr"/>
          <a:lstStyle/>
          <a:p>
            <a:pPr algn="ctr" indent="0" marL="0">
              <a:buNone/>
            </a:pPr>
            <a:r>
              <a:rPr lang="en-US" sz="8000" b="1" dirty="0">
                <a:solidFill>
                  <a:srgbClr val="4B18E8"/>
                </a:solidFill>
                <a:latin typeface="Arial" pitchFamily="34" charset="0"/>
                <a:ea typeface="Arial" pitchFamily="34" charset="-122"/>
                <a:cs typeface="Arial" pitchFamily="34" charset="-120"/>
              </a:rPr>
              <a:t>1</a:t>
            </a:r>
            <a:endParaRPr lang="en-US" sz="8000" dirty="0"/>
          </a:p>
        </p:txBody>
      </p:sp>
      <p:sp>
        <p:nvSpPr>
          <p:cNvPr id="11" name="Text 8"/>
          <p:cNvSpPr txBox="1"/>
          <p:nvPr/>
        </p:nvSpPr>
        <p:spPr>
          <a:xfrm>
            <a:off x="4599432" y="3200400"/>
            <a:ext cx="2980944" cy="1005840"/>
          </a:xfrm>
          <a:prstGeom prst="rect">
            <a:avLst/>
          </a:prstGeom>
          <a:noFill/>
          <a:ln/>
        </p:spPr>
        <p:txBody>
          <a:bodyPr wrap="square" lIns="0" tIns="0" rIns="0" bIns="0" rtlCol="0" anchor="t"/>
          <a:lstStyle/>
          <a:p>
            <a:pPr algn="ctr" indent="0" marL="0">
              <a:lnSpc>
                <a:spcPct val="115000"/>
              </a:lnSpc>
              <a:buNone/>
            </a:pPr>
            <a:r>
              <a:rPr lang="en-US" sz="1600" dirty="0">
                <a:solidFill>
                  <a:srgbClr val="5F5878"/>
                </a:solidFill>
                <a:latin typeface="Arial" pitchFamily="34" charset="0"/>
                <a:ea typeface="Arial" pitchFamily="34" charset="-122"/>
                <a:cs typeface="Arial" pitchFamily="34" charset="-120"/>
              </a:rPr>
              <a:t>machine holding your</a:t>
            </a:r>
            <a:endParaRPr lang="en-US" sz="1600" dirty="0"/>
          </a:p>
          <a:p>
            <a:pPr algn="ctr" indent="0" marL="0">
              <a:lnSpc>
                <a:spcPct val="115000"/>
              </a:lnSpc>
              <a:buNone/>
            </a:pPr>
            <a:r>
              <a:rPr lang="en-US" sz="1600" dirty="0">
                <a:solidFill>
                  <a:srgbClr val="5F5878"/>
                </a:solidFill>
                <a:latin typeface="Arial" pitchFamily="34" charset="0"/>
                <a:ea typeface="Arial" pitchFamily="34" charset="-122"/>
                <a:cs typeface="Arial" pitchFamily="34" charset="-120"/>
              </a:rPr>
              <a:t>DNS credentials</a:t>
            </a:r>
            <a:endParaRPr lang="en-US" sz="1600" dirty="0"/>
          </a:p>
        </p:txBody>
      </p:sp>
      <p:sp>
        <p:nvSpPr>
          <p:cNvPr id="12" name="Shape 9"/>
          <p:cNvSpPr/>
          <p:nvPr/>
        </p:nvSpPr>
        <p:spPr>
          <a:xfrm>
            <a:off x="8055864" y="1554480"/>
            <a:ext cx="3529584" cy="2834640"/>
          </a:xfrm>
          <a:prstGeom prst="roundRect">
            <a:avLst>
              <a:gd name="adj" fmla="val 2903"/>
            </a:avLst>
          </a:prstGeom>
          <a:solidFill>
            <a:srgbClr val="FFFFFF"/>
          </a:solidFill>
          <a:ln w="12700">
            <a:solidFill>
              <a:srgbClr val="EDE8FD"/>
            </a:solidFill>
            <a:prstDash val="solid"/>
          </a:ln>
        </p:spPr>
      </p:sp>
      <p:sp>
        <p:nvSpPr>
          <p:cNvPr id="13" name="Text 10"/>
          <p:cNvSpPr txBox="1"/>
          <p:nvPr/>
        </p:nvSpPr>
        <p:spPr>
          <a:xfrm>
            <a:off x="8055864" y="1737360"/>
            <a:ext cx="3529584" cy="1371600"/>
          </a:xfrm>
          <a:prstGeom prst="rect">
            <a:avLst/>
          </a:prstGeom>
          <a:noFill/>
          <a:ln/>
        </p:spPr>
        <p:txBody>
          <a:bodyPr wrap="square" lIns="0" tIns="0" rIns="0" bIns="0" rtlCol="0" anchor="ctr"/>
          <a:lstStyle/>
          <a:p>
            <a:pPr algn="ctr" indent="0" marL="0">
              <a:buNone/>
            </a:pPr>
            <a:r>
              <a:rPr lang="en-US" sz="8000" b="1" dirty="0">
                <a:solidFill>
                  <a:srgbClr val="1F8A4F"/>
                </a:solidFill>
                <a:latin typeface="Arial" pitchFamily="34" charset="0"/>
                <a:ea typeface="Arial" pitchFamily="34" charset="-122"/>
                <a:cs typeface="Arial" pitchFamily="34" charset="-120"/>
              </a:rPr>
              <a:t>90</a:t>
            </a:r>
            <a:endParaRPr lang="en-US" sz="8000" dirty="0"/>
          </a:p>
        </p:txBody>
      </p:sp>
      <p:sp>
        <p:nvSpPr>
          <p:cNvPr id="14" name="Text 11"/>
          <p:cNvSpPr txBox="1"/>
          <p:nvPr/>
        </p:nvSpPr>
        <p:spPr>
          <a:xfrm>
            <a:off x="8330184" y="3200400"/>
            <a:ext cx="2980944" cy="1005840"/>
          </a:xfrm>
          <a:prstGeom prst="rect">
            <a:avLst/>
          </a:prstGeom>
          <a:noFill/>
          <a:ln/>
        </p:spPr>
        <p:txBody>
          <a:bodyPr wrap="square" lIns="0" tIns="0" rIns="0" bIns="0" rtlCol="0" anchor="t"/>
          <a:lstStyle/>
          <a:p>
            <a:pPr algn="ctr" indent="0" marL="0">
              <a:lnSpc>
                <a:spcPct val="115000"/>
              </a:lnSpc>
              <a:buNone/>
            </a:pPr>
            <a:r>
              <a:rPr lang="en-US" sz="1600" dirty="0">
                <a:solidFill>
                  <a:srgbClr val="5F5878"/>
                </a:solidFill>
                <a:latin typeface="Arial" pitchFamily="34" charset="0"/>
                <a:ea typeface="Arial" pitchFamily="34" charset="-122"/>
                <a:cs typeface="Arial" pitchFamily="34" charset="-120"/>
              </a:rPr>
              <a:t>days, renewed forever,</a:t>
            </a:r>
            <a:endParaRPr lang="en-US" sz="1600" dirty="0"/>
          </a:p>
          <a:p>
            <a:pPr algn="ctr" indent="0" marL="0">
              <a:lnSpc>
                <a:spcPct val="115000"/>
              </a:lnSpc>
              <a:buNone/>
            </a:pPr>
            <a:r>
              <a:rPr lang="en-US" sz="1600" dirty="0">
                <a:solidFill>
                  <a:srgbClr val="5F5878"/>
                </a:solidFill>
                <a:latin typeface="Arial" pitchFamily="34" charset="0"/>
                <a:ea typeface="Arial" pitchFamily="34" charset="-122"/>
                <a:cs typeface="Arial" pitchFamily="34" charset="-120"/>
              </a:rPr>
              <a:t>without me</a:t>
            </a:r>
            <a:endParaRPr lang="en-US" sz="1600" dirty="0"/>
          </a:p>
        </p:txBody>
      </p:sp>
      <p:sp>
        <p:nvSpPr>
          <p:cNvPr id="15" name="Text 12"/>
          <p:cNvSpPr txBox="1"/>
          <p:nvPr/>
        </p:nvSpPr>
        <p:spPr>
          <a:xfrm>
            <a:off x="594360" y="4754880"/>
            <a:ext cx="10972800" cy="548640"/>
          </a:xfrm>
          <a:prstGeom prst="rect">
            <a:avLst/>
          </a:prstGeom>
          <a:noFill/>
          <a:ln/>
        </p:spPr>
        <p:txBody>
          <a:bodyPr wrap="square" lIns="0" tIns="0" rIns="0" bIns="0" rtlCol="0" anchor="ctr"/>
          <a:lstStyle/>
          <a:p>
            <a:pPr indent="0" marL="0">
              <a:buNone/>
            </a:pPr>
            <a:r>
              <a:rPr lang="en-US" sz="2000" dirty="0">
                <a:solidFill>
                  <a:srgbClr val="1A1533"/>
                </a:solidFill>
                <a:latin typeface="Arial" pitchFamily="34" charset="0"/>
                <a:ea typeface="Arial" pitchFamily="34" charset="-122"/>
                <a:cs typeface="Arial" pitchFamily="34" charset="-120"/>
              </a:rPr>
              <a:t>ESXi. iDRAC. The core switch. The NAS. The printer. None of them will ever pip install anything.</a:t>
            </a:r>
            <a:endParaRPr lang="en-US" sz="2000" dirty="0"/>
          </a:p>
        </p:txBody>
      </p:sp>
      <p:sp>
        <p:nvSpPr>
          <p:cNvPr id="16" name="Text 13"/>
          <p:cNvSpPr txBox="1"/>
          <p:nvPr/>
        </p:nvSpPr>
        <p:spPr>
          <a:xfrm>
            <a:off x="594360" y="6144768"/>
            <a:ext cx="11064240" cy="365760"/>
          </a:xfrm>
          <a:prstGeom prst="rect">
            <a:avLst/>
          </a:prstGeom>
          <a:noFill/>
          <a:ln/>
        </p:spPr>
        <p:txBody>
          <a:bodyPr wrap="square" lIns="0" tIns="0" rIns="0" bIns="0" rtlCol="0" anchor="ctr"/>
          <a:lstStyle/>
          <a:p>
            <a:pPr algn="l" indent="0" marL="0">
              <a:buNone/>
            </a:pPr>
            <a:r>
              <a:rPr lang="en-US" sz="1200" dirty="0">
                <a:solidFill>
                  <a:srgbClr val="6B4EF0"/>
                </a:solidFill>
                <a:latin typeface="Courier New" pitchFamily="34" charset="0"/>
                <a:ea typeface="Courier New" pitchFamily="34" charset="-122"/>
                <a:cs typeface="Courier New" pitchFamily="34" charset="-120"/>
              </a:rPr>
              <a:t># the printer has never installed anything. the printer barely prints.</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AEAEA"/>
        </a:solidFill>
      </p:bgPr>
    </p:bg>
    <p:spTree>
      <p:nvGrpSpPr>
        <p:cNvPr id="1" name=""/>
        <p:cNvGrpSpPr/>
        <p:nvPr/>
      </p:nvGrpSpPr>
      <p:grpSpPr>
        <a:xfrm>
          <a:off x="0" y="0"/>
          <a:ext cx="0" cy="0"/>
          <a:chOff x="0" y="0"/>
          <a:chExt cx="0" cy="0"/>
        </a:xfrm>
      </p:grpSpPr>
      <p:sp>
        <p:nvSpPr>
          <p:cNvPr id="3" name="Shape 0"/>
          <p:cNvSpPr/>
          <p:nvPr/>
        </p:nvSpPr>
        <p:spPr>
          <a:xfrm>
            <a:off x="566928" y="384048"/>
            <a:ext cx="566928" cy="566928"/>
          </a:xfrm>
          <a:prstGeom prst="ellipse">
            <a:avLst/>
          </a:prstGeom>
          <a:solidFill>
            <a:srgbClr val="4B18E8"/>
          </a:solidFill>
          <a:ln/>
        </p:spPr>
      </p:sp>
      <p:sp>
        <p:nvSpPr>
          <p:cNvPr id="4" name="Text 1"/>
          <p:cNvSpPr txBox="1"/>
          <p:nvPr/>
        </p:nvSpPr>
        <p:spPr>
          <a:xfrm>
            <a:off x="566928" y="3840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5</a:t>
            </a:r>
            <a:endParaRPr lang="en-US" sz="2000" dirty="0"/>
          </a:p>
        </p:txBody>
      </p:sp>
      <p:sp>
        <p:nvSpPr>
          <p:cNvPr id="5" name="Text 2"/>
          <p:cNvSpPr txBox="1"/>
          <p:nvPr/>
        </p:nvSpPr>
        <p:spPr>
          <a:xfrm>
            <a:off x="1325880" y="329184"/>
            <a:ext cx="10332720" cy="713232"/>
          </a:xfrm>
          <a:prstGeom prst="rect">
            <a:avLst/>
          </a:prstGeom>
          <a:noFill/>
          <a:ln/>
        </p:spPr>
        <p:txBody>
          <a:bodyPr wrap="square" lIns="0" tIns="0" rIns="0" bIns="0" rtlCol="0" anchor="ctr"/>
          <a:lstStyle/>
          <a:p>
            <a:pPr algn="l" indent="0" marL="0">
              <a:buNone/>
            </a:pPr>
            <a:r>
              <a:rPr lang="en-US" sz="3400" b="1" dirty="0">
                <a:solidFill>
                  <a:srgbClr val="1A1533"/>
                </a:solidFill>
                <a:latin typeface="Arial" pitchFamily="34" charset="0"/>
                <a:ea typeface="Arial" pitchFamily="34" charset="-122"/>
                <a:cs typeface="Arial" pitchFamily="34" charset="-120"/>
              </a:rPr>
              <a:t>The whole idea</a:t>
            </a:r>
            <a:endParaRPr lang="en-US" sz="3400" dirty="0"/>
          </a:p>
        </p:txBody>
      </p:sp>
      <p:sp>
        <p:nvSpPr>
          <p:cNvPr id="6" name="Text 3"/>
          <p:cNvSpPr txBox="1"/>
          <p:nvPr/>
        </p:nvSpPr>
        <p:spPr>
          <a:xfrm>
            <a:off x="822960" y="1371600"/>
            <a:ext cx="7863840" cy="3108960"/>
          </a:xfrm>
          <a:prstGeom prst="rect">
            <a:avLst/>
          </a:prstGeom>
          <a:noFill/>
          <a:ln/>
        </p:spPr>
        <p:txBody>
          <a:bodyPr wrap="square" lIns="0" tIns="0" rIns="0" bIns="0" rtlCol="0" anchor="ctr"/>
          <a:lstStyle/>
          <a:p>
            <a:pPr indent="0" marL="0">
              <a:lnSpc>
                <a:spcPct val="120000"/>
              </a:lnSpc>
              <a:buNone/>
            </a:pPr>
            <a:r>
              <a:rPr lang="en-US" sz="4600" b="1" dirty="0">
                <a:solidFill>
                  <a:srgbClr val="4B18E8"/>
                </a:solidFill>
                <a:latin typeface="Arial" pitchFamily="34" charset="0"/>
                <a:ea typeface="Arial" pitchFamily="34" charset="-122"/>
                <a:cs typeface="Arial" pitchFamily="34" charset="-120"/>
              </a:rPr>
              <a:t>Be an ACME server.</a:t>
            </a:r>
            <a:endParaRPr lang="en-US" sz="4600" dirty="0"/>
          </a:p>
          <a:p>
            <a:pPr indent="0" marL="0">
              <a:lnSpc>
                <a:spcPct val="120000"/>
              </a:lnSpc>
              <a:buNone/>
            </a:pPr>
            <a:r>
              <a:rPr lang="en-US" sz="4600" b="1" dirty="0">
                <a:solidFill>
                  <a:srgbClr val="4B18E8"/>
                </a:solidFill>
                <a:latin typeface="Arial" pitchFamily="34" charset="0"/>
                <a:ea typeface="Arial" pitchFamily="34" charset="-122"/>
                <a:cs typeface="Arial" pitchFamily="34" charset="-120"/>
              </a:rPr>
              <a:t>Be an ACME client.</a:t>
            </a:r>
            <a:endParaRPr lang="en-US" sz="4600" dirty="0"/>
          </a:p>
          <a:p>
            <a:pPr indent="0" marL="0">
              <a:lnSpc>
                <a:spcPct val="120000"/>
              </a:lnSpc>
              <a:buNone/>
            </a:pPr>
            <a:r>
              <a:rPr lang="en-US" sz="4600" b="1" dirty="0">
                <a:solidFill>
                  <a:srgbClr val="4B18E8"/>
                </a:solidFill>
                <a:latin typeface="Arial" pitchFamily="34" charset="0"/>
                <a:ea typeface="Arial" pitchFamily="34" charset="-122"/>
                <a:cs typeface="Arial" pitchFamily="34" charset="-120"/>
              </a:rPr>
              <a:t>Sit in the middle.</a:t>
            </a:r>
            <a:endParaRPr lang="en-US" sz="4600" dirty="0"/>
          </a:p>
        </p:txBody>
      </p:sp>
      <p:sp>
        <p:nvSpPr>
          <p:cNvPr id="7" name="Shape 4"/>
          <p:cNvSpPr/>
          <p:nvPr/>
        </p:nvSpPr>
        <p:spPr>
          <a:xfrm>
            <a:off x="8229600" y="1463040"/>
            <a:ext cx="3383280" cy="2926080"/>
          </a:xfrm>
          <a:prstGeom prst="roundRect">
            <a:avLst>
              <a:gd name="adj" fmla="val 2813"/>
            </a:avLst>
          </a:prstGeom>
          <a:solidFill>
            <a:srgbClr val="EDE8FD"/>
          </a:solidFill>
          <a:ln w="12700">
            <a:solidFill>
              <a:srgbClr val="CFC6EE"/>
            </a:solidFill>
            <a:prstDash val="solid"/>
          </a:ln>
        </p:spPr>
      </p:sp>
      <p:sp>
        <p:nvSpPr>
          <p:cNvPr id="8" name="Text 5"/>
          <p:cNvSpPr txBox="1"/>
          <p:nvPr/>
        </p:nvSpPr>
        <p:spPr>
          <a:xfrm>
            <a:off x="8522208" y="1719072"/>
            <a:ext cx="2798064" cy="256032"/>
          </a:xfrm>
          <a:prstGeom prst="rect">
            <a:avLst/>
          </a:prstGeom>
          <a:noFill/>
          <a:ln/>
        </p:spPr>
        <p:txBody>
          <a:bodyPr wrap="square" lIns="0" tIns="0" rIns="0" bIns="0" rtlCol="0" anchor="ctr"/>
          <a:lstStyle/>
          <a:p>
            <a:pPr indent="0" marL="0">
              <a:buNone/>
            </a:pPr>
            <a:r>
              <a:rPr lang="en-US" sz="1200" b="1" spc="100" kern="0" dirty="0">
                <a:solidFill>
                  <a:srgbClr val="4B18E8"/>
                </a:solidFill>
                <a:latin typeface="Courier New" pitchFamily="34" charset="0"/>
                <a:ea typeface="Courier New" pitchFamily="34" charset="-122"/>
                <a:cs typeface="Courier New" pitchFamily="34" charset="-120"/>
              </a:rPr>
              <a:t>CLIENT DIFF</a:t>
            </a:r>
            <a:endParaRPr lang="en-US" sz="1200" dirty="0"/>
          </a:p>
        </p:txBody>
      </p:sp>
      <p:sp>
        <p:nvSpPr>
          <p:cNvPr id="9" name="Text 6"/>
          <p:cNvSpPr txBox="1"/>
          <p:nvPr/>
        </p:nvSpPr>
        <p:spPr>
          <a:xfrm>
            <a:off x="8522208" y="2048256"/>
            <a:ext cx="2798064" cy="457200"/>
          </a:xfrm>
          <a:prstGeom prst="rect">
            <a:avLst/>
          </a:prstGeom>
          <a:noFill/>
          <a:ln/>
        </p:spPr>
        <p:txBody>
          <a:bodyPr wrap="square" lIns="0" tIns="0" rIns="0" bIns="0" rtlCol="0" anchor="t"/>
          <a:lstStyle/>
          <a:p>
            <a:pPr indent="0" marL="0">
              <a:buNone/>
            </a:pPr>
            <a:r>
              <a:rPr lang="en-US" sz="2200" b="1" dirty="0">
                <a:solidFill>
                  <a:srgbClr val="1A1533"/>
                </a:solidFill>
                <a:latin typeface="Arial" pitchFamily="34" charset="0"/>
                <a:ea typeface="Arial" pitchFamily="34" charset="-122"/>
                <a:cs typeface="Arial" pitchFamily="34" charset="-120"/>
              </a:rPr>
              <a:t>One line.</a:t>
            </a:r>
            <a:endParaRPr lang="en-US" sz="2200" dirty="0"/>
          </a:p>
        </p:txBody>
      </p:sp>
      <p:sp>
        <p:nvSpPr>
          <p:cNvPr id="10" name="Text 7"/>
          <p:cNvSpPr txBox="1"/>
          <p:nvPr/>
        </p:nvSpPr>
        <p:spPr>
          <a:xfrm>
            <a:off x="8522208" y="2578608"/>
            <a:ext cx="2798064" cy="1609344"/>
          </a:xfrm>
          <a:prstGeom prst="rect">
            <a:avLst/>
          </a:prstGeom>
          <a:noFill/>
          <a:ln/>
        </p:spPr>
        <p:txBody>
          <a:bodyPr wrap="square" lIns="0" tIns="0" rIns="0" bIns="0" rtlCol="0" anchor="t"/>
          <a:lstStyle/>
          <a:p>
            <a:pPr indent="0" marL="0">
              <a:lnSpc>
                <a:spcPct val="115000"/>
              </a:lnSpc>
              <a:buNone/>
            </a:pPr>
            <a:r>
              <a:rPr lang="en-US" sz="1500" dirty="0">
                <a:solidFill>
                  <a:srgbClr val="1A1533"/>
                </a:solidFill>
                <a:latin typeface="Arial" pitchFamily="34" charset="0"/>
                <a:ea typeface="Arial" pitchFamily="34" charset="-122"/>
                <a:cs typeface="Arial" pitchFamily="34" charset="-120"/>
              </a:rPr>
              <a:t>RFC 8555 both directions, so certbot, acme.sh and the ACME client already built into Proxmox need no plugin, no patch and no idea anything unusual is happening.</a:t>
            </a:r>
            <a:endParaRPr lang="en-US" sz="1500" dirty="0"/>
          </a:p>
        </p:txBody>
      </p:sp>
      <p:sp>
        <p:nvSpPr>
          <p:cNvPr id="11" name="Text 8"/>
          <p:cNvSpPr txBox="1"/>
          <p:nvPr/>
        </p:nvSpPr>
        <p:spPr>
          <a:xfrm>
            <a:off x="822960" y="4800600"/>
            <a:ext cx="10789920" cy="914400"/>
          </a:xfrm>
          <a:prstGeom prst="rect">
            <a:avLst/>
          </a:prstGeom>
          <a:noFill/>
          <a:ln/>
        </p:spPr>
        <p:txBody>
          <a:bodyPr wrap="square" lIns="0" tIns="0" rIns="0" bIns="0" rtlCol="0" anchor="ctr"/>
          <a:lstStyle/>
          <a:p>
            <a:pPr indent="0" marL="0">
              <a:lnSpc>
                <a:spcPct val="120000"/>
              </a:lnSpc>
              <a:buNone/>
            </a:pPr>
            <a:r>
              <a:rPr lang="en-US" sz="1700" dirty="0">
                <a:solidFill>
                  <a:srgbClr val="2E0C93"/>
                </a:solidFill>
                <a:latin typeface="Courier New" pitchFamily="34" charset="0"/>
                <a:ea typeface="Courier New" pitchFamily="34" charset="-122"/>
                <a:cs typeface="Courier New" pitchFamily="34" charset="-120"/>
              </a:rPr>
              <a:t>- --server https://acme-v02.api.letsencrypt.org/directory</a:t>
            </a:r>
            <a:endParaRPr lang="en-US" sz="1700" dirty="0"/>
          </a:p>
          <a:p>
            <a:pPr indent="0" marL="0">
              <a:lnSpc>
                <a:spcPct val="120000"/>
              </a:lnSpc>
              <a:buNone/>
            </a:pPr>
            <a:r>
              <a:rPr lang="en-US" sz="1700" dirty="0">
                <a:solidFill>
                  <a:srgbClr val="2E0C93"/>
                </a:solidFill>
                <a:latin typeface="Courier New" pitchFamily="34" charset="0"/>
                <a:ea typeface="Courier New" pitchFamily="34" charset="-122"/>
                <a:cs typeface="Courier New" pitchFamily="34" charset="-120"/>
              </a:rPr>
              <a:t>+ --server http://acme-lan.lan:8000/acme/directory</a:t>
            </a:r>
            <a:endParaRPr lang="en-US" sz="1700" dirty="0"/>
          </a:p>
        </p:txBody>
      </p:sp>
      <p:sp>
        <p:nvSpPr>
          <p:cNvPr id="12" name="Text 9"/>
          <p:cNvSpPr txBox="1"/>
          <p:nvPr/>
        </p:nvSpPr>
        <p:spPr>
          <a:xfrm>
            <a:off x="594360" y="6144768"/>
            <a:ext cx="11064240" cy="365760"/>
          </a:xfrm>
          <a:prstGeom prst="rect">
            <a:avLst/>
          </a:prstGeom>
          <a:noFill/>
          <a:ln/>
        </p:spPr>
        <p:txBody>
          <a:bodyPr wrap="square" lIns="0" tIns="0" rIns="0" bIns="0" rtlCol="0" anchor="ctr"/>
          <a:lstStyle/>
          <a:p>
            <a:pPr algn="l" indent="0" marL="0">
              <a:buNone/>
            </a:pPr>
            <a:r>
              <a:rPr lang="en-US" sz="1200" dirty="0">
                <a:solidFill>
                  <a:srgbClr val="6B4EF0"/>
                </a:solidFill>
                <a:latin typeface="Courier New" pitchFamily="34" charset="0"/>
                <a:ea typeface="Courier New" pitchFamily="34" charset="-122"/>
                <a:cs typeface="Courier New" pitchFamily="34" charset="-120"/>
              </a:rPr>
              <a:t># stock clients only. nothing that needs a custom hook script.</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AEAEA"/>
        </a:solidFill>
      </p:bgPr>
    </p:bg>
    <p:spTree>
      <p:nvGrpSpPr>
        <p:cNvPr id="1" name=""/>
        <p:cNvGrpSpPr/>
        <p:nvPr/>
      </p:nvGrpSpPr>
      <p:grpSpPr>
        <a:xfrm>
          <a:off x="0" y="0"/>
          <a:ext cx="0" cy="0"/>
          <a:chOff x="0" y="0"/>
          <a:chExt cx="0" cy="0"/>
        </a:xfrm>
      </p:grpSpPr>
      <p:sp>
        <p:nvSpPr>
          <p:cNvPr id="3" name="Shape 0"/>
          <p:cNvSpPr/>
          <p:nvPr/>
        </p:nvSpPr>
        <p:spPr>
          <a:xfrm>
            <a:off x="566928" y="384048"/>
            <a:ext cx="566928" cy="566928"/>
          </a:xfrm>
          <a:prstGeom prst="ellipse">
            <a:avLst/>
          </a:prstGeom>
          <a:solidFill>
            <a:srgbClr val="4B18E8"/>
          </a:solidFill>
          <a:ln/>
        </p:spPr>
      </p:sp>
      <p:sp>
        <p:nvSpPr>
          <p:cNvPr id="4" name="Text 1"/>
          <p:cNvSpPr txBox="1"/>
          <p:nvPr/>
        </p:nvSpPr>
        <p:spPr>
          <a:xfrm>
            <a:off x="566928" y="3840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6</a:t>
            </a:r>
            <a:endParaRPr lang="en-US" sz="2000" dirty="0"/>
          </a:p>
        </p:txBody>
      </p:sp>
      <p:sp>
        <p:nvSpPr>
          <p:cNvPr id="5" name="Text 2"/>
          <p:cNvSpPr txBox="1"/>
          <p:nvPr/>
        </p:nvSpPr>
        <p:spPr>
          <a:xfrm>
            <a:off x="1325880" y="329184"/>
            <a:ext cx="10332720" cy="713232"/>
          </a:xfrm>
          <a:prstGeom prst="rect">
            <a:avLst/>
          </a:prstGeom>
          <a:noFill/>
          <a:ln/>
        </p:spPr>
        <p:txBody>
          <a:bodyPr wrap="square" lIns="0" tIns="0" rIns="0" bIns="0" rtlCol="0" anchor="ctr"/>
          <a:lstStyle/>
          <a:p>
            <a:pPr algn="l" indent="0" marL="0">
              <a:buNone/>
            </a:pPr>
            <a:r>
              <a:rPr lang="en-US" sz="3400" b="1" dirty="0">
                <a:solidFill>
                  <a:srgbClr val="1A1533"/>
                </a:solidFill>
                <a:latin typeface="Arial" pitchFamily="34" charset="0"/>
                <a:ea typeface="Arial" pitchFamily="34" charset="-122"/>
                <a:cs typeface="Arial" pitchFamily="34" charset="-120"/>
              </a:rPr>
              <a:t>The architecture, all of it</a:t>
            </a:r>
            <a:endParaRPr lang="en-US" sz="3400" dirty="0"/>
          </a:p>
        </p:txBody>
      </p:sp>
      <p:sp>
        <p:nvSpPr>
          <p:cNvPr id="6" name="Shape 3"/>
          <p:cNvSpPr/>
          <p:nvPr/>
        </p:nvSpPr>
        <p:spPr>
          <a:xfrm>
            <a:off x="548640" y="1965960"/>
            <a:ext cx="3108960" cy="1417320"/>
          </a:xfrm>
          <a:prstGeom prst="roundRect">
            <a:avLst>
              <a:gd name="adj" fmla="val 5806"/>
            </a:avLst>
          </a:prstGeom>
          <a:solidFill>
            <a:srgbClr val="FFFFFF"/>
          </a:solidFill>
          <a:ln w="12700">
            <a:solidFill>
              <a:srgbClr val="EDE8FD"/>
            </a:solidFill>
            <a:prstDash val="solid"/>
          </a:ln>
        </p:spPr>
      </p:sp>
      <p:sp>
        <p:nvSpPr>
          <p:cNvPr id="7" name="Text 4"/>
          <p:cNvSpPr txBox="1"/>
          <p:nvPr/>
        </p:nvSpPr>
        <p:spPr>
          <a:xfrm>
            <a:off x="548640" y="2221992"/>
            <a:ext cx="3108960" cy="457200"/>
          </a:xfrm>
          <a:prstGeom prst="rect">
            <a:avLst/>
          </a:prstGeom>
          <a:noFill/>
          <a:ln/>
        </p:spPr>
        <p:txBody>
          <a:bodyPr wrap="square" lIns="0" tIns="0" rIns="0" bIns="0" rtlCol="0" anchor="ctr"/>
          <a:lstStyle/>
          <a:p>
            <a:pPr algn="ctr" indent="0" marL="0">
              <a:buNone/>
            </a:pPr>
            <a:r>
              <a:rPr lang="en-US" sz="2200" b="1" dirty="0">
                <a:solidFill>
                  <a:srgbClr val="1A1533"/>
                </a:solidFill>
                <a:latin typeface="Arial" pitchFamily="34" charset="0"/>
                <a:ea typeface="Arial" pitchFamily="34" charset="-122"/>
                <a:cs typeface="Arial" pitchFamily="34" charset="-120"/>
              </a:rPr>
              <a:t>certbot · acme.sh</a:t>
            </a:r>
            <a:endParaRPr lang="en-US" sz="2200" dirty="0"/>
          </a:p>
        </p:txBody>
      </p:sp>
      <p:sp>
        <p:nvSpPr>
          <p:cNvPr id="8" name="Text 5"/>
          <p:cNvSpPr txBox="1"/>
          <p:nvPr/>
        </p:nvSpPr>
        <p:spPr>
          <a:xfrm>
            <a:off x="685800" y="2715768"/>
            <a:ext cx="2834640" cy="457200"/>
          </a:xfrm>
          <a:prstGeom prst="rect">
            <a:avLst/>
          </a:prstGeom>
          <a:noFill/>
          <a:ln/>
        </p:spPr>
        <p:txBody>
          <a:bodyPr wrap="square" lIns="0" tIns="0" rIns="0" bIns="0" rtlCol="0" anchor="ctr"/>
          <a:lstStyle/>
          <a:p>
            <a:pPr algn="ctr" indent="0" marL="0">
              <a:buNone/>
            </a:pPr>
            <a:r>
              <a:rPr lang="en-US" sz="1100" dirty="0">
                <a:solidFill>
                  <a:srgbClr val="5F5878"/>
                </a:solidFill>
                <a:latin typeface="Courier New" pitchFamily="34" charset="0"/>
                <a:ea typeface="Courier New" pitchFamily="34" charset="-122"/>
                <a:cs typeface="Courier New" pitchFamily="34" charset="-120"/>
              </a:rPr>
              <a:t>proxmox · truenas · unmodified</a:t>
            </a:r>
            <a:endParaRPr lang="en-US" sz="1100" dirty="0"/>
          </a:p>
        </p:txBody>
      </p:sp>
      <p:sp>
        <p:nvSpPr>
          <p:cNvPr id="9" name="Shape 6"/>
          <p:cNvSpPr/>
          <p:nvPr/>
        </p:nvSpPr>
        <p:spPr>
          <a:xfrm>
            <a:off x="4526280" y="1965960"/>
            <a:ext cx="3154680" cy="1417320"/>
          </a:xfrm>
          <a:prstGeom prst="roundRect">
            <a:avLst>
              <a:gd name="adj" fmla="val 5806"/>
            </a:avLst>
          </a:prstGeom>
          <a:solidFill>
            <a:srgbClr val="4B18E8"/>
          </a:solidFill>
          <a:ln w="31750">
            <a:solidFill>
              <a:srgbClr val="4B18E8"/>
            </a:solidFill>
            <a:prstDash val="solid"/>
          </a:ln>
        </p:spPr>
      </p:sp>
      <p:sp>
        <p:nvSpPr>
          <p:cNvPr id="10" name="Text 7"/>
          <p:cNvSpPr txBox="1"/>
          <p:nvPr/>
        </p:nvSpPr>
        <p:spPr>
          <a:xfrm>
            <a:off x="4526280" y="2221992"/>
            <a:ext cx="3154680" cy="457200"/>
          </a:xfrm>
          <a:prstGeom prst="rect">
            <a:avLst/>
          </a:prstGeom>
          <a:noFill/>
          <a:ln/>
        </p:spPr>
        <p:txBody>
          <a:bodyPr wrap="square" lIns="0" tIns="0" rIns="0" bIns="0" rtlCol="0" anchor="ctr"/>
          <a:lstStyle/>
          <a:p>
            <a:pPr algn="ctr" indent="0" marL="0">
              <a:buNone/>
            </a:pPr>
            <a:r>
              <a:rPr lang="en-US" sz="2200" b="1" dirty="0">
                <a:solidFill>
                  <a:srgbClr val="FFFFFF"/>
                </a:solidFill>
                <a:latin typeface="Arial" pitchFamily="34" charset="0"/>
                <a:ea typeface="Arial" pitchFamily="34" charset="-122"/>
                <a:cs typeface="Arial" pitchFamily="34" charset="-120"/>
              </a:rPr>
              <a:t>acme-lan</a:t>
            </a:r>
            <a:endParaRPr lang="en-US" sz="2200" dirty="0"/>
          </a:p>
        </p:txBody>
      </p:sp>
      <p:sp>
        <p:nvSpPr>
          <p:cNvPr id="11" name="Text 8"/>
          <p:cNvSpPr txBox="1"/>
          <p:nvPr/>
        </p:nvSpPr>
        <p:spPr>
          <a:xfrm>
            <a:off x="4663440" y="2715768"/>
            <a:ext cx="2880360" cy="457200"/>
          </a:xfrm>
          <a:prstGeom prst="rect">
            <a:avLst/>
          </a:prstGeom>
          <a:noFill/>
          <a:ln/>
        </p:spPr>
        <p:txBody>
          <a:bodyPr wrap="square" lIns="0" tIns="0" rIns="0" bIns="0" rtlCol="0" anchor="ctr"/>
          <a:lstStyle/>
          <a:p>
            <a:pPr algn="ctr" indent="0" marL="0">
              <a:buNone/>
            </a:pPr>
            <a:r>
              <a:rPr lang="en-US" sz="1100" dirty="0">
                <a:solidFill>
                  <a:srgbClr val="B18CFA"/>
                </a:solidFill>
                <a:latin typeface="Courier New" pitchFamily="34" charset="0"/>
                <a:ea typeface="Courier New" pitchFamily="34" charset="-122"/>
                <a:cs typeface="Courier New" pitchFamily="34" charset="-120"/>
              </a:rPr>
              <a:t>ACME server  +  ACME client</a:t>
            </a:r>
            <a:endParaRPr lang="en-US" sz="1100" dirty="0"/>
          </a:p>
        </p:txBody>
      </p:sp>
      <p:sp>
        <p:nvSpPr>
          <p:cNvPr id="12" name="Shape 9"/>
          <p:cNvSpPr/>
          <p:nvPr/>
        </p:nvSpPr>
        <p:spPr>
          <a:xfrm>
            <a:off x="8549640" y="1965960"/>
            <a:ext cx="3108960" cy="1417320"/>
          </a:xfrm>
          <a:prstGeom prst="roundRect">
            <a:avLst>
              <a:gd name="adj" fmla="val 5806"/>
            </a:avLst>
          </a:prstGeom>
          <a:solidFill>
            <a:srgbClr val="FFFFFF"/>
          </a:solidFill>
          <a:ln w="12700">
            <a:solidFill>
              <a:srgbClr val="EDE8FD"/>
            </a:solidFill>
            <a:prstDash val="solid"/>
          </a:ln>
        </p:spPr>
      </p:sp>
      <p:sp>
        <p:nvSpPr>
          <p:cNvPr id="13" name="Text 10"/>
          <p:cNvSpPr txBox="1"/>
          <p:nvPr/>
        </p:nvSpPr>
        <p:spPr>
          <a:xfrm>
            <a:off x="8549640" y="2221992"/>
            <a:ext cx="3108960" cy="457200"/>
          </a:xfrm>
          <a:prstGeom prst="rect">
            <a:avLst/>
          </a:prstGeom>
          <a:noFill/>
          <a:ln/>
        </p:spPr>
        <p:txBody>
          <a:bodyPr wrap="square" lIns="0" tIns="0" rIns="0" bIns="0" rtlCol="0" anchor="ctr"/>
          <a:lstStyle/>
          <a:p>
            <a:pPr algn="ctr" indent="0" marL="0">
              <a:buNone/>
            </a:pPr>
            <a:r>
              <a:rPr lang="en-US" sz="2200" b="1" dirty="0">
                <a:solidFill>
                  <a:srgbClr val="1A1533"/>
                </a:solidFill>
                <a:latin typeface="Arial" pitchFamily="34" charset="0"/>
                <a:ea typeface="Arial" pitchFamily="34" charset="-122"/>
                <a:cs typeface="Arial" pitchFamily="34" charset="-120"/>
              </a:rPr>
              <a:t>Let's Encrypt</a:t>
            </a:r>
            <a:endParaRPr lang="en-US" sz="2200" dirty="0"/>
          </a:p>
        </p:txBody>
      </p:sp>
      <p:sp>
        <p:nvSpPr>
          <p:cNvPr id="14" name="Text 11"/>
          <p:cNvSpPr txBox="1"/>
          <p:nvPr/>
        </p:nvSpPr>
        <p:spPr>
          <a:xfrm>
            <a:off x="8686800" y="2715768"/>
            <a:ext cx="2834640" cy="457200"/>
          </a:xfrm>
          <a:prstGeom prst="rect">
            <a:avLst/>
          </a:prstGeom>
          <a:noFill/>
          <a:ln/>
        </p:spPr>
        <p:txBody>
          <a:bodyPr wrap="square" lIns="0" tIns="0" rIns="0" bIns="0" rtlCol="0" anchor="ctr"/>
          <a:lstStyle/>
          <a:p>
            <a:pPr algn="ctr" indent="0" marL="0">
              <a:buNone/>
            </a:pPr>
            <a:r>
              <a:rPr lang="en-US" sz="1100" dirty="0">
                <a:solidFill>
                  <a:srgbClr val="5F5878"/>
                </a:solidFill>
                <a:latin typeface="Courier New" pitchFamily="34" charset="0"/>
                <a:ea typeface="Courier New" pitchFamily="34" charset="-122"/>
                <a:cs typeface="Courier New" pitchFamily="34" charset="-120"/>
              </a:rPr>
              <a:t>ZeroSSL · EAB CA · private CA</a:t>
            </a:r>
            <a:endParaRPr lang="en-US" sz="1100" dirty="0"/>
          </a:p>
        </p:txBody>
      </p:sp>
      <p:sp>
        <p:nvSpPr>
          <p:cNvPr id="15" name="Shape 12"/>
          <p:cNvSpPr/>
          <p:nvPr/>
        </p:nvSpPr>
        <p:spPr>
          <a:xfrm>
            <a:off x="3703320" y="2674620"/>
            <a:ext cx="777240" cy="0"/>
          </a:xfrm>
          <a:prstGeom prst="line">
            <a:avLst/>
          </a:prstGeom>
          <a:noFill/>
          <a:ln w="28575">
            <a:solidFill>
              <a:srgbClr val="4B18E8"/>
            </a:solidFill>
            <a:prstDash val="solid"/>
            <a:tailEnd type="triangle"/>
          </a:ln>
        </p:spPr>
      </p:sp>
      <p:sp>
        <p:nvSpPr>
          <p:cNvPr id="16" name="Shape 13"/>
          <p:cNvSpPr/>
          <p:nvPr/>
        </p:nvSpPr>
        <p:spPr>
          <a:xfrm>
            <a:off x="7726680" y="2674620"/>
            <a:ext cx="777240" cy="0"/>
          </a:xfrm>
          <a:prstGeom prst="line">
            <a:avLst/>
          </a:prstGeom>
          <a:noFill/>
          <a:ln w="28575">
            <a:solidFill>
              <a:srgbClr val="4B18E8"/>
            </a:solidFill>
            <a:prstDash val="solid"/>
            <a:tailEnd type="triangle"/>
          </a:ln>
        </p:spPr>
      </p:sp>
      <p:sp>
        <p:nvSpPr>
          <p:cNvPr id="17" name="Text 14"/>
          <p:cNvSpPr txBox="1"/>
          <p:nvPr/>
        </p:nvSpPr>
        <p:spPr>
          <a:xfrm>
            <a:off x="2857500" y="1051560"/>
            <a:ext cx="2468880" cy="777240"/>
          </a:xfrm>
          <a:prstGeom prst="rect">
            <a:avLst/>
          </a:prstGeom>
          <a:noFill/>
          <a:ln/>
        </p:spPr>
        <p:txBody>
          <a:bodyPr wrap="square" lIns="0" tIns="0" rIns="0" bIns="0" rtlCol="0" anchor="b"/>
          <a:lstStyle/>
          <a:p>
            <a:pPr algn="ctr" indent="0" marL="0">
              <a:lnSpc>
                <a:spcPct val="120000"/>
              </a:lnSpc>
              <a:buNone/>
            </a:pPr>
            <a:r>
              <a:rPr lang="en-US" sz="1100" b="1" dirty="0">
                <a:solidFill>
                  <a:srgbClr val="6B4EF0"/>
                </a:solidFill>
                <a:latin typeface="Courier New" pitchFamily="34" charset="0"/>
                <a:ea typeface="Courier New" pitchFamily="34" charset="-122"/>
                <a:cs typeface="Courier New" pitchFamily="34" charset="-120"/>
              </a:rPr>
              <a:t>ACME  downstream
</a:t>
            </a:r>
            <a:pPr algn="ctr" indent="0" marL="0">
              <a:lnSpc>
                <a:spcPct val="120000"/>
              </a:lnSpc>
              <a:buNone/>
            </a:pPr>
            <a:r>
              <a:rPr lang="en-US" sz="1100" dirty="0">
                <a:solidFill>
                  <a:srgbClr val="5F5878"/>
                </a:solidFill>
                <a:latin typeface="Courier New" pitchFamily="34" charset="0"/>
                <a:ea typeface="Courier New" pitchFamily="34" charset="-122"/>
                <a:cs typeface="Courier New" pitchFamily="34" charset="-120"/>
              </a:rPr>
              <a:t>http-01 / tls-alpn-01</a:t>
            </a:r>
            <a:endParaRPr lang="en-US" sz="1100" dirty="0"/>
          </a:p>
        </p:txBody>
      </p:sp>
      <p:sp>
        <p:nvSpPr>
          <p:cNvPr id="18" name="Text 15"/>
          <p:cNvSpPr txBox="1"/>
          <p:nvPr/>
        </p:nvSpPr>
        <p:spPr>
          <a:xfrm>
            <a:off x="6880860" y="1051560"/>
            <a:ext cx="2468880" cy="777240"/>
          </a:xfrm>
          <a:prstGeom prst="rect">
            <a:avLst/>
          </a:prstGeom>
          <a:noFill/>
          <a:ln/>
        </p:spPr>
        <p:txBody>
          <a:bodyPr wrap="square" lIns="0" tIns="0" rIns="0" bIns="0" rtlCol="0" anchor="b"/>
          <a:lstStyle/>
          <a:p>
            <a:pPr algn="ctr" indent="0" marL="0">
              <a:lnSpc>
                <a:spcPct val="120000"/>
              </a:lnSpc>
              <a:buNone/>
            </a:pPr>
            <a:r>
              <a:rPr lang="en-US" sz="1100" b="1" dirty="0">
                <a:solidFill>
                  <a:srgbClr val="6B4EF0"/>
                </a:solidFill>
                <a:latin typeface="Courier New" pitchFamily="34" charset="0"/>
                <a:ea typeface="Courier New" pitchFamily="34" charset="-122"/>
                <a:cs typeface="Courier New" pitchFamily="34" charset="-120"/>
              </a:rPr>
              <a:t>ACME  upstream
</a:t>
            </a:r>
            <a:pPr algn="ctr" indent="0" marL="0">
              <a:lnSpc>
                <a:spcPct val="120000"/>
              </a:lnSpc>
              <a:buNone/>
            </a:pPr>
            <a:r>
              <a:rPr lang="en-US" sz="1100" dirty="0">
                <a:solidFill>
                  <a:srgbClr val="5F5878"/>
                </a:solidFill>
                <a:latin typeface="Courier New" pitchFamily="34" charset="0"/>
                <a:ea typeface="Courier New" pitchFamily="34" charset="-122"/>
                <a:cs typeface="Courier New" pitchFamily="34" charset="-120"/>
              </a:rPr>
              <a:t>dns-01</a:t>
            </a:r>
            <a:endParaRPr lang="en-US" sz="1100" dirty="0"/>
          </a:p>
        </p:txBody>
      </p:sp>
      <p:sp>
        <p:nvSpPr>
          <p:cNvPr id="19" name="Shape 16"/>
          <p:cNvSpPr/>
          <p:nvPr/>
        </p:nvSpPr>
        <p:spPr>
          <a:xfrm>
            <a:off x="6099048" y="3383280"/>
            <a:ext cx="0" cy="777240"/>
          </a:xfrm>
          <a:prstGeom prst="line">
            <a:avLst/>
          </a:prstGeom>
          <a:noFill/>
          <a:ln w="28575">
            <a:solidFill>
              <a:srgbClr val="4B18E8"/>
            </a:solidFill>
            <a:prstDash val="solid"/>
            <a:tailEnd type="triangle"/>
          </a:ln>
        </p:spPr>
      </p:sp>
      <p:sp>
        <p:nvSpPr>
          <p:cNvPr id="20" name="Shape 17"/>
          <p:cNvSpPr/>
          <p:nvPr/>
        </p:nvSpPr>
        <p:spPr>
          <a:xfrm>
            <a:off x="3977640" y="4160520"/>
            <a:ext cx="4251960" cy="914400"/>
          </a:xfrm>
          <a:prstGeom prst="roundRect">
            <a:avLst>
              <a:gd name="adj" fmla="val 9000"/>
            </a:avLst>
          </a:prstGeom>
          <a:solidFill>
            <a:srgbClr val="FFFFFF"/>
          </a:solidFill>
          <a:ln w="12700">
            <a:solidFill>
              <a:srgbClr val="EDE8FD"/>
            </a:solidFill>
            <a:prstDash val="solid"/>
          </a:ln>
        </p:spPr>
      </p:sp>
      <p:sp>
        <p:nvSpPr>
          <p:cNvPr id="21" name="Text 18"/>
          <p:cNvSpPr txBox="1"/>
          <p:nvPr/>
        </p:nvSpPr>
        <p:spPr>
          <a:xfrm>
            <a:off x="3977640" y="4315968"/>
            <a:ext cx="4251960" cy="320040"/>
          </a:xfrm>
          <a:prstGeom prst="rect">
            <a:avLst/>
          </a:prstGeom>
          <a:noFill/>
          <a:ln/>
        </p:spPr>
        <p:txBody>
          <a:bodyPr wrap="square" lIns="0" tIns="0" rIns="0" bIns="0" rtlCol="0" anchor="ctr"/>
          <a:lstStyle/>
          <a:p>
            <a:pPr algn="ctr" indent="0" marL="0">
              <a:buNone/>
            </a:pPr>
            <a:r>
              <a:rPr lang="en-US" sz="1600" b="1" dirty="0">
                <a:solidFill>
                  <a:srgbClr val="1A1533"/>
                </a:solidFill>
                <a:latin typeface="Arial" pitchFamily="34" charset="0"/>
                <a:ea typeface="Arial" pitchFamily="34" charset="-122"/>
                <a:cs typeface="Arial" pitchFamily="34" charset="-120"/>
              </a:rPr>
              <a:t>your delegated _acme-challenge zone</a:t>
            </a:r>
            <a:endParaRPr lang="en-US" sz="1600" dirty="0"/>
          </a:p>
        </p:txBody>
      </p:sp>
      <p:sp>
        <p:nvSpPr>
          <p:cNvPr id="22" name="Text 19"/>
          <p:cNvSpPr txBox="1"/>
          <p:nvPr/>
        </p:nvSpPr>
        <p:spPr>
          <a:xfrm>
            <a:off x="3977640" y="4645152"/>
            <a:ext cx="4251960" cy="320040"/>
          </a:xfrm>
          <a:prstGeom prst="rect">
            <a:avLst/>
          </a:prstGeom>
          <a:noFill/>
          <a:ln/>
        </p:spPr>
        <p:txBody>
          <a:bodyPr wrap="square" lIns="0" tIns="0" rIns="0" bIns="0" rtlCol="0" anchor="ctr"/>
          <a:lstStyle/>
          <a:p>
            <a:pPr algn="ctr" indent="0" marL="0">
              <a:buNone/>
            </a:pPr>
            <a:r>
              <a:rPr lang="en-US" sz="1100" dirty="0">
                <a:solidFill>
                  <a:srgbClr val="4B18E8"/>
                </a:solidFill>
                <a:latin typeface="Courier New" pitchFamily="34" charset="0"/>
                <a:ea typeface="Courier New" pitchFamily="34" charset="-122"/>
                <a:cs typeface="Courier New" pitchFamily="34" charset="-120"/>
              </a:rPr>
              <a:t>_acme-challenge.db.example.net  TXT</a:t>
            </a:r>
            <a:endParaRPr lang="en-US" sz="1100" dirty="0"/>
          </a:p>
        </p:txBody>
      </p:sp>
      <p:sp>
        <p:nvSpPr>
          <p:cNvPr id="23" name="Text 20"/>
          <p:cNvSpPr txBox="1"/>
          <p:nvPr/>
        </p:nvSpPr>
        <p:spPr>
          <a:xfrm>
            <a:off x="8549640" y="4114800"/>
            <a:ext cx="3108960" cy="1005840"/>
          </a:xfrm>
          <a:prstGeom prst="rect">
            <a:avLst/>
          </a:prstGeom>
          <a:noFill/>
          <a:ln/>
        </p:spPr>
        <p:txBody>
          <a:bodyPr wrap="square" lIns="0" tIns="0" rIns="0" bIns="0" rtlCol="0" anchor="ctr"/>
          <a:lstStyle/>
          <a:p>
            <a:pPr indent="0" marL="0">
              <a:lnSpc>
                <a:spcPct val="115000"/>
              </a:lnSpc>
              <a:buNone/>
            </a:pPr>
            <a:r>
              <a:rPr lang="en-US" sz="1500" dirty="0">
                <a:solidFill>
                  <a:srgbClr val="5F5878"/>
                </a:solidFill>
                <a:latin typeface="Arial" pitchFamily="34" charset="0"/>
                <a:ea typeface="Arial" pitchFamily="34" charset="-122"/>
                <a:cs typeface="Arial" pitchFamily="34" charset="-120"/>
              </a:rPr>
              <a:t>The only box on the</a:t>
            </a:r>
            <a:endParaRPr lang="en-US" sz="1500" dirty="0"/>
          </a:p>
          <a:p>
            <a:pPr indent="0" marL="0">
              <a:lnSpc>
                <a:spcPct val="115000"/>
              </a:lnSpc>
              <a:buNone/>
            </a:pPr>
            <a:r>
              <a:rPr lang="en-US" sz="1500" dirty="0">
                <a:solidFill>
                  <a:srgbClr val="5F5878"/>
                </a:solidFill>
                <a:latin typeface="Arial" pitchFamily="34" charset="0"/>
                <a:ea typeface="Arial" pitchFamily="34" charset="-122"/>
                <a:cs typeface="Arial" pitchFamily="34" charset="-120"/>
              </a:rPr>
              <a:t>LAN with a DNS</a:t>
            </a:r>
            <a:endParaRPr lang="en-US" sz="1500" dirty="0"/>
          </a:p>
          <a:p>
            <a:pPr indent="0" marL="0">
              <a:lnSpc>
                <a:spcPct val="115000"/>
              </a:lnSpc>
              <a:buNone/>
            </a:pPr>
            <a:r>
              <a:rPr lang="en-US" sz="1500" dirty="0">
                <a:solidFill>
                  <a:srgbClr val="5F5878"/>
                </a:solidFill>
                <a:latin typeface="Arial" pitchFamily="34" charset="0"/>
                <a:ea typeface="Arial" pitchFamily="34" charset="-122"/>
                <a:cs typeface="Arial" pitchFamily="34" charset="-120"/>
              </a:rPr>
              <a:t>credential is this one.</a:t>
            </a:r>
            <a:endParaRPr lang="en-US" sz="1500" dirty="0"/>
          </a:p>
        </p:txBody>
      </p:sp>
      <p:sp>
        <p:nvSpPr>
          <p:cNvPr id="24" name="Text 21"/>
          <p:cNvSpPr txBox="1"/>
          <p:nvPr/>
        </p:nvSpPr>
        <p:spPr>
          <a:xfrm>
            <a:off x="594360" y="6144768"/>
            <a:ext cx="11064240" cy="365760"/>
          </a:xfrm>
          <a:prstGeom prst="rect">
            <a:avLst/>
          </a:prstGeom>
          <a:noFill/>
          <a:ln/>
        </p:spPr>
        <p:txBody>
          <a:bodyPr wrap="square" lIns="0" tIns="0" rIns="0" bIns="0" rtlCol="0" anchor="ctr"/>
          <a:lstStyle/>
          <a:p>
            <a:pPr algn="l" indent="0" marL="0">
              <a:buNone/>
            </a:pPr>
            <a:r>
              <a:rPr lang="en-US" sz="1200" dirty="0">
                <a:solidFill>
                  <a:srgbClr val="6B4EF0"/>
                </a:solidFill>
                <a:latin typeface="Courier New" pitchFamily="34" charset="0"/>
                <a:ea typeface="Courier New" pitchFamily="34" charset="-122"/>
                <a:cs typeface="Courier New" pitchFamily="34" charset="-120"/>
              </a:rPr>
              <a:t># ~5k lines of Python standing between two ACME conversations</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AEAEA"/>
        </a:solidFill>
      </p:bgPr>
    </p:bg>
    <p:spTree>
      <p:nvGrpSpPr>
        <p:cNvPr id="1" name=""/>
        <p:cNvGrpSpPr/>
        <p:nvPr/>
      </p:nvGrpSpPr>
      <p:grpSpPr>
        <a:xfrm>
          <a:off x="0" y="0"/>
          <a:ext cx="0" cy="0"/>
          <a:chOff x="0" y="0"/>
          <a:chExt cx="0" cy="0"/>
        </a:xfrm>
      </p:grpSpPr>
      <p:sp>
        <p:nvSpPr>
          <p:cNvPr id="3" name="Shape 0"/>
          <p:cNvSpPr/>
          <p:nvPr/>
        </p:nvSpPr>
        <p:spPr>
          <a:xfrm>
            <a:off x="566928" y="384048"/>
            <a:ext cx="566928" cy="566928"/>
          </a:xfrm>
          <a:prstGeom prst="ellipse">
            <a:avLst/>
          </a:prstGeom>
          <a:solidFill>
            <a:srgbClr val="4B18E8"/>
          </a:solidFill>
          <a:ln/>
        </p:spPr>
      </p:sp>
      <p:sp>
        <p:nvSpPr>
          <p:cNvPr id="4" name="Text 1"/>
          <p:cNvSpPr txBox="1"/>
          <p:nvPr/>
        </p:nvSpPr>
        <p:spPr>
          <a:xfrm>
            <a:off x="566928" y="3840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7</a:t>
            </a:r>
            <a:endParaRPr lang="en-US" sz="2000" dirty="0"/>
          </a:p>
        </p:txBody>
      </p:sp>
      <p:sp>
        <p:nvSpPr>
          <p:cNvPr id="5" name="Text 2"/>
          <p:cNvSpPr txBox="1"/>
          <p:nvPr/>
        </p:nvSpPr>
        <p:spPr>
          <a:xfrm>
            <a:off x="1325880" y="329184"/>
            <a:ext cx="10332720" cy="713232"/>
          </a:xfrm>
          <a:prstGeom prst="rect">
            <a:avLst/>
          </a:prstGeom>
          <a:noFill/>
          <a:ln/>
        </p:spPr>
        <p:txBody>
          <a:bodyPr wrap="square" lIns="0" tIns="0" rIns="0" bIns="0" rtlCol="0" anchor="ctr"/>
          <a:lstStyle/>
          <a:p>
            <a:pPr algn="l" indent="0" marL="0">
              <a:buNone/>
            </a:pPr>
            <a:r>
              <a:rPr lang="en-US" sz="3400" b="1" dirty="0">
                <a:solidFill>
                  <a:srgbClr val="1A1533"/>
                </a:solidFill>
                <a:latin typeface="Arial" pitchFamily="34" charset="0"/>
                <a:ea typeface="Arial" pitchFamily="34" charset="-122"/>
                <a:cs typeface="Arial" pitchFamily="34" charset="-120"/>
              </a:rPr>
              <a:t>The one decision that matters</a:t>
            </a:r>
            <a:endParaRPr lang="en-US" sz="3400" dirty="0"/>
          </a:p>
        </p:txBody>
      </p:sp>
      <p:sp>
        <p:nvSpPr>
          <p:cNvPr id="6" name="Text 3"/>
          <p:cNvSpPr txBox="1"/>
          <p:nvPr/>
        </p:nvSpPr>
        <p:spPr>
          <a:xfrm>
            <a:off x="822960" y="1234440"/>
            <a:ext cx="10789920" cy="914400"/>
          </a:xfrm>
          <a:prstGeom prst="rect">
            <a:avLst/>
          </a:prstGeom>
          <a:noFill/>
          <a:ln/>
        </p:spPr>
        <p:txBody>
          <a:bodyPr wrap="square" lIns="0" tIns="0" rIns="0" bIns="0" rtlCol="0" anchor="ctr"/>
          <a:lstStyle/>
          <a:p>
            <a:pPr indent="0" marL="0">
              <a:buNone/>
            </a:pPr>
            <a:r>
              <a:rPr lang="en-US" sz="4200" b="1" dirty="0">
                <a:solidFill>
                  <a:srgbClr val="4B18E8"/>
                </a:solidFill>
                <a:latin typeface="Arial" pitchFamily="34" charset="0"/>
                <a:ea typeface="Arial" pitchFamily="34" charset="-122"/>
                <a:cs typeface="Arial" pitchFamily="34" charset="-120"/>
              </a:rPr>
              <a:t>acme-lan forwards your CSR upstream.</a:t>
            </a:r>
            <a:endParaRPr lang="en-US" sz="4200" dirty="0"/>
          </a:p>
        </p:txBody>
      </p:sp>
      <p:sp>
        <p:nvSpPr>
          <p:cNvPr id="7" name="Shape 4"/>
          <p:cNvSpPr/>
          <p:nvPr/>
        </p:nvSpPr>
        <p:spPr>
          <a:xfrm>
            <a:off x="841248" y="2505456"/>
            <a:ext cx="237744" cy="237744"/>
          </a:xfrm>
          <a:prstGeom prst="ellipse">
            <a:avLst/>
          </a:prstGeom>
          <a:solidFill>
            <a:srgbClr val="1F8A4F"/>
          </a:solidFill>
          <a:ln/>
        </p:spPr>
      </p:sp>
      <p:sp>
        <p:nvSpPr>
          <p:cNvPr id="8" name="Text 5"/>
          <p:cNvSpPr txBox="1"/>
          <p:nvPr/>
        </p:nvSpPr>
        <p:spPr>
          <a:xfrm>
            <a:off x="1298448" y="2423160"/>
            <a:ext cx="10241280" cy="411480"/>
          </a:xfrm>
          <a:prstGeom prst="rect">
            <a:avLst/>
          </a:prstGeom>
          <a:noFill/>
          <a:ln/>
        </p:spPr>
        <p:txBody>
          <a:bodyPr wrap="square" lIns="0" tIns="0" rIns="0" bIns="0" rtlCol="0" anchor="ctr"/>
          <a:lstStyle/>
          <a:p>
            <a:pPr indent="0" marL="0">
              <a:buNone/>
            </a:pPr>
            <a:r>
              <a:rPr lang="en-US" sz="2000" dirty="0">
                <a:solidFill>
                  <a:srgbClr val="1A1533"/>
                </a:solidFill>
                <a:latin typeface="Arial" pitchFamily="34" charset="0"/>
                <a:ea typeface="Arial" pitchFamily="34" charset="-122"/>
                <a:cs typeface="Arial" pitchFamily="34" charset="-120"/>
              </a:rPr>
              <a:t>The issued cert matches the key the client already has</a:t>
            </a:r>
            <a:endParaRPr lang="en-US" sz="2000" dirty="0"/>
          </a:p>
        </p:txBody>
      </p:sp>
      <p:sp>
        <p:nvSpPr>
          <p:cNvPr id="9" name="Shape 6"/>
          <p:cNvSpPr/>
          <p:nvPr/>
        </p:nvSpPr>
        <p:spPr>
          <a:xfrm>
            <a:off x="841248" y="3163824"/>
            <a:ext cx="237744" cy="237744"/>
          </a:xfrm>
          <a:prstGeom prst="ellipse">
            <a:avLst/>
          </a:prstGeom>
          <a:solidFill>
            <a:srgbClr val="1F8A4F"/>
          </a:solidFill>
          <a:ln/>
        </p:spPr>
      </p:sp>
      <p:sp>
        <p:nvSpPr>
          <p:cNvPr id="10" name="Text 7"/>
          <p:cNvSpPr txBox="1"/>
          <p:nvPr/>
        </p:nvSpPr>
        <p:spPr>
          <a:xfrm>
            <a:off x="1298448" y="3081528"/>
            <a:ext cx="10241280" cy="411480"/>
          </a:xfrm>
          <a:prstGeom prst="rect">
            <a:avLst/>
          </a:prstGeom>
          <a:noFill/>
          <a:ln/>
        </p:spPr>
        <p:txBody>
          <a:bodyPr wrap="square" lIns="0" tIns="0" rIns="0" bIns="0" rtlCol="0" anchor="ctr"/>
          <a:lstStyle/>
          <a:p>
            <a:pPr indent="0" marL="0">
              <a:buNone/>
            </a:pPr>
            <a:r>
              <a:rPr lang="en-US" sz="2000" dirty="0">
                <a:solidFill>
                  <a:srgbClr val="1A1533"/>
                </a:solidFill>
                <a:latin typeface="Arial" pitchFamily="34" charset="0"/>
                <a:ea typeface="Arial" pitchFamily="34" charset="-122"/>
                <a:cs typeface="Arial" pitchFamily="34" charset="-120"/>
              </a:rPr>
              <a:t>acme-lan never sees, stores or transmits that private key</a:t>
            </a:r>
            <a:endParaRPr lang="en-US" sz="2000" dirty="0"/>
          </a:p>
        </p:txBody>
      </p:sp>
      <p:sp>
        <p:nvSpPr>
          <p:cNvPr id="11" name="Shape 8"/>
          <p:cNvSpPr/>
          <p:nvPr/>
        </p:nvSpPr>
        <p:spPr>
          <a:xfrm>
            <a:off x="841248" y="3822192"/>
            <a:ext cx="237744" cy="237744"/>
          </a:xfrm>
          <a:prstGeom prst="ellipse">
            <a:avLst/>
          </a:prstGeom>
          <a:solidFill>
            <a:srgbClr val="1F8A4F"/>
          </a:solidFill>
          <a:ln/>
        </p:spPr>
      </p:sp>
      <p:sp>
        <p:nvSpPr>
          <p:cNvPr id="12" name="Text 9"/>
          <p:cNvSpPr txBox="1"/>
          <p:nvPr/>
        </p:nvSpPr>
        <p:spPr>
          <a:xfrm>
            <a:off x="1298448" y="3739896"/>
            <a:ext cx="10241280" cy="411480"/>
          </a:xfrm>
          <a:prstGeom prst="rect">
            <a:avLst/>
          </a:prstGeom>
          <a:noFill/>
          <a:ln/>
        </p:spPr>
        <p:txBody>
          <a:bodyPr wrap="square" lIns="0" tIns="0" rIns="0" bIns="0" rtlCol="0" anchor="ctr"/>
          <a:lstStyle/>
          <a:p>
            <a:pPr indent="0" marL="0">
              <a:buNone/>
            </a:pPr>
            <a:r>
              <a:rPr lang="en-US" sz="2000" dirty="0">
                <a:solidFill>
                  <a:srgbClr val="1A1533"/>
                </a:solidFill>
                <a:latin typeface="Arial" pitchFamily="34" charset="0"/>
                <a:ea typeface="Arial" pitchFamily="34" charset="-122"/>
                <a:cs typeface="Arial" pitchFamily="34" charset="-120"/>
              </a:rPr>
              <a:t>Renewal is just ACME again — no state to keep in sync</a:t>
            </a:r>
            <a:endParaRPr lang="en-US" sz="2000" dirty="0"/>
          </a:p>
        </p:txBody>
      </p:sp>
      <p:sp>
        <p:nvSpPr>
          <p:cNvPr id="13" name="Text 10"/>
          <p:cNvSpPr txBox="1"/>
          <p:nvPr/>
        </p:nvSpPr>
        <p:spPr>
          <a:xfrm>
            <a:off x="822960" y="4754880"/>
            <a:ext cx="10789920" cy="457200"/>
          </a:xfrm>
          <a:prstGeom prst="rect">
            <a:avLst/>
          </a:prstGeom>
          <a:noFill/>
          <a:ln/>
        </p:spPr>
        <p:txBody>
          <a:bodyPr wrap="square" lIns="0" tIns="0" rIns="0" bIns="0" rtlCol="0" anchor="ctr"/>
          <a:lstStyle/>
          <a:p>
            <a:pPr indent="0" marL="0">
              <a:buNone/>
            </a:pPr>
            <a:r>
              <a:rPr lang="en-US" sz="1500" dirty="0">
                <a:solidFill>
                  <a:srgbClr val="6B4EF0"/>
                </a:solidFill>
                <a:latin typeface="Courier New" pitchFamily="34" charset="0"/>
                <a:ea typeface="Courier New" pitchFamily="34" charset="-122"/>
                <a:cs typeface="Courier New" pitchFamily="34" charset="-120"/>
              </a:rPr>
              <a:t>order = upstream.new_order(csr_from_the_client)   # not one we made up</a:t>
            </a:r>
            <a:endParaRPr lang="en-US" sz="1500" dirty="0"/>
          </a:p>
        </p:txBody>
      </p:sp>
      <p:sp>
        <p:nvSpPr>
          <p:cNvPr id="14" name="Text 11"/>
          <p:cNvSpPr txBox="1"/>
          <p:nvPr/>
        </p:nvSpPr>
        <p:spPr>
          <a:xfrm>
            <a:off x="594360" y="6144768"/>
            <a:ext cx="11064240" cy="365760"/>
          </a:xfrm>
          <a:prstGeom prst="rect">
            <a:avLst/>
          </a:prstGeom>
          <a:noFill/>
          <a:ln/>
        </p:spPr>
        <p:txBody>
          <a:bodyPr wrap="square" lIns="0" tIns="0" rIns="0" bIns="0" rtlCol="0" anchor="ctr"/>
          <a:lstStyle/>
          <a:p>
            <a:pPr algn="l" indent="0" marL="0">
              <a:buNone/>
            </a:pPr>
            <a:r>
              <a:rPr lang="en-US" sz="1200" dirty="0">
                <a:solidFill>
                  <a:srgbClr val="6B4EF0"/>
                </a:solidFill>
                <a:latin typeface="Courier New" pitchFamily="34" charset="0"/>
                <a:ea typeface="Courier New" pitchFamily="34" charset="-122"/>
                <a:cs typeface="Courier New" pitchFamily="34" charset="-120"/>
              </a:rPr>
              <a:t># a proxy that generated its own keys would be a very expensive self-signed cert</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AEAEA"/>
        </a:solidFill>
      </p:bgPr>
    </p:bg>
    <p:spTree>
      <p:nvGrpSpPr>
        <p:cNvPr id="1" name=""/>
        <p:cNvGrpSpPr/>
        <p:nvPr/>
      </p:nvGrpSpPr>
      <p:grpSpPr>
        <a:xfrm>
          <a:off x="0" y="0"/>
          <a:ext cx="0" cy="0"/>
          <a:chOff x="0" y="0"/>
          <a:chExt cx="0" cy="0"/>
        </a:xfrm>
      </p:grpSpPr>
      <p:sp>
        <p:nvSpPr>
          <p:cNvPr id="3" name="Shape 0"/>
          <p:cNvSpPr/>
          <p:nvPr/>
        </p:nvSpPr>
        <p:spPr>
          <a:xfrm>
            <a:off x="566928" y="384048"/>
            <a:ext cx="566928" cy="566928"/>
          </a:xfrm>
          <a:prstGeom prst="ellipse">
            <a:avLst/>
          </a:prstGeom>
          <a:solidFill>
            <a:srgbClr val="4B18E8"/>
          </a:solidFill>
          <a:ln/>
        </p:spPr>
      </p:sp>
      <p:sp>
        <p:nvSpPr>
          <p:cNvPr id="4" name="Text 1"/>
          <p:cNvSpPr txBox="1"/>
          <p:nvPr/>
        </p:nvSpPr>
        <p:spPr>
          <a:xfrm>
            <a:off x="566928" y="3840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8</a:t>
            </a:r>
            <a:endParaRPr lang="en-US" sz="2000" dirty="0"/>
          </a:p>
        </p:txBody>
      </p:sp>
      <p:sp>
        <p:nvSpPr>
          <p:cNvPr id="5" name="Text 2"/>
          <p:cNvSpPr txBox="1"/>
          <p:nvPr/>
        </p:nvSpPr>
        <p:spPr>
          <a:xfrm>
            <a:off x="1325880" y="329184"/>
            <a:ext cx="10332720" cy="713232"/>
          </a:xfrm>
          <a:prstGeom prst="rect">
            <a:avLst/>
          </a:prstGeom>
          <a:noFill/>
          <a:ln/>
        </p:spPr>
        <p:txBody>
          <a:bodyPr wrap="square" lIns="0" tIns="0" rIns="0" bIns="0" rtlCol="0" anchor="ctr"/>
          <a:lstStyle/>
          <a:p>
            <a:pPr algn="l" indent="0" marL="0">
              <a:buNone/>
            </a:pPr>
            <a:r>
              <a:rPr lang="en-US" sz="3400" b="1" dirty="0">
                <a:solidFill>
                  <a:srgbClr val="1A1533"/>
                </a:solidFill>
                <a:latin typeface="Arial" pitchFamily="34" charset="0"/>
                <a:ea typeface="Arial" pitchFamily="34" charset="-122"/>
                <a:cs typeface="Arial" pitchFamily="34" charset="-120"/>
              </a:rPr>
              <a:t>Two challenges, two directions</a:t>
            </a:r>
            <a:endParaRPr lang="en-US" sz="3400" dirty="0"/>
          </a:p>
        </p:txBody>
      </p:sp>
      <p:sp>
        <p:nvSpPr>
          <p:cNvPr id="6" name="Shape 3"/>
          <p:cNvSpPr/>
          <p:nvPr/>
        </p:nvSpPr>
        <p:spPr>
          <a:xfrm>
            <a:off x="594360" y="1417320"/>
            <a:ext cx="5394960" cy="3657600"/>
          </a:xfrm>
          <a:prstGeom prst="roundRect">
            <a:avLst>
              <a:gd name="adj" fmla="val 2250"/>
            </a:avLst>
          </a:prstGeom>
          <a:solidFill>
            <a:srgbClr val="FFFFFF"/>
          </a:solidFill>
          <a:ln w="12700">
            <a:solidFill>
              <a:srgbClr val="CFC6EE"/>
            </a:solidFill>
            <a:prstDash val="solid"/>
          </a:ln>
        </p:spPr>
      </p:sp>
      <p:sp>
        <p:nvSpPr>
          <p:cNvPr id="7" name="Text 4"/>
          <p:cNvSpPr txBox="1"/>
          <p:nvPr/>
        </p:nvSpPr>
        <p:spPr>
          <a:xfrm>
            <a:off x="886968" y="1673352"/>
            <a:ext cx="4809744" cy="256032"/>
          </a:xfrm>
          <a:prstGeom prst="rect">
            <a:avLst/>
          </a:prstGeom>
          <a:noFill/>
          <a:ln/>
        </p:spPr>
        <p:txBody>
          <a:bodyPr wrap="square" lIns="0" tIns="0" rIns="0" bIns="0" rtlCol="0" anchor="ctr"/>
          <a:lstStyle/>
          <a:p>
            <a:pPr indent="0" marL="0">
              <a:buNone/>
            </a:pPr>
            <a:r>
              <a:rPr lang="en-US" sz="1200" b="1" spc="100" kern="0" dirty="0">
                <a:solidFill>
                  <a:srgbClr val="6B4EF0"/>
                </a:solidFill>
                <a:latin typeface="Courier New" pitchFamily="34" charset="0"/>
                <a:ea typeface="Courier New" pitchFamily="34" charset="-122"/>
                <a:cs typeface="Courier New" pitchFamily="34" charset="-120"/>
              </a:rPr>
              <a:t>DOWNSTREAM  ·  PROVE IT TO ME</a:t>
            </a:r>
            <a:endParaRPr lang="en-US" sz="1200" dirty="0"/>
          </a:p>
        </p:txBody>
      </p:sp>
      <p:sp>
        <p:nvSpPr>
          <p:cNvPr id="8" name="Text 5"/>
          <p:cNvSpPr txBox="1"/>
          <p:nvPr/>
        </p:nvSpPr>
        <p:spPr>
          <a:xfrm>
            <a:off x="886968" y="2002536"/>
            <a:ext cx="4809744" cy="1051560"/>
          </a:xfrm>
          <a:prstGeom prst="rect">
            <a:avLst/>
          </a:prstGeom>
          <a:noFill/>
          <a:ln/>
        </p:spPr>
        <p:txBody>
          <a:bodyPr wrap="square" lIns="0" tIns="0" rIns="0" bIns="0" rtlCol="0" anchor="t"/>
          <a:lstStyle/>
          <a:p>
            <a:pPr indent="0" marL="0">
              <a:buNone/>
            </a:pPr>
            <a:r>
              <a:rPr lang="en-US" sz="2600" b="1" dirty="0">
                <a:solidFill>
                  <a:srgbClr val="1A1533"/>
                </a:solidFill>
                <a:latin typeface="Courier New" pitchFamily="34" charset="0"/>
                <a:ea typeface="Courier New" pitchFamily="34" charset="-122"/>
                <a:cs typeface="Courier New" pitchFamily="34" charset="-120"/>
              </a:rPr>
              <a:t>http-01</a:t>
            </a:r>
            <a:endParaRPr lang="en-US" sz="2600" dirty="0"/>
          </a:p>
          <a:p>
            <a:pPr indent="0" marL="0">
              <a:buNone/>
            </a:pPr>
            <a:r>
              <a:rPr lang="en-US" sz="2600" b="1" dirty="0">
                <a:solidFill>
                  <a:srgbClr val="1A1533"/>
                </a:solidFill>
                <a:latin typeface="Courier New" pitchFamily="34" charset="0"/>
                <a:ea typeface="Courier New" pitchFamily="34" charset="-122"/>
                <a:cs typeface="Courier New" pitchFamily="34" charset="-120"/>
              </a:rPr>
              <a:t>tls-alpn-01</a:t>
            </a:r>
            <a:endParaRPr lang="en-US" sz="2600" dirty="0"/>
          </a:p>
        </p:txBody>
      </p:sp>
      <p:sp>
        <p:nvSpPr>
          <p:cNvPr id="9" name="Text 6"/>
          <p:cNvSpPr txBox="1"/>
          <p:nvPr/>
        </p:nvSpPr>
        <p:spPr>
          <a:xfrm>
            <a:off x="886968" y="3127248"/>
            <a:ext cx="4809744" cy="1746504"/>
          </a:xfrm>
          <a:prstGeom prst="rect">
            <a:avLst/>
          </a:prstGeom>
          <a:noFill/>
          <a:ln/>
        </p:spPr>
        <p:txBody>
          <a:bodyPr wrap="square" lIns="0" tIns="0" rIns="0" bIns="0" rtlCol="0" anchor="t"/>
          <a:lstStyle/>
          <a:p>
            <a:pPr indent="0" marL="0">
              <a:lnSpc>
                <a:spcPct val="115000"/>
              </a:lnSpc>
              <a:buNone/>
            </a:pPr>
            <a:r>
              <a:rPr lang="en-US" sz="1500" dirty="0">
                <a:solidFill>
                  <a:srgbClr val="5F5878"/>
                </a:solidFill>
                <a:latin typeface="Arial" pitchFamily="34" charset="0"/>
                <a:ea typeface="Arial" pitchFamily="34" charset="-122"/>
                <a:cs typeface="Arial" pitchFamily="34" charset="-120"/>
              </a:rPr>
              <a:t>Port 80 if the box has a web server.</a:t>
            </a:r>
            <a:endParaRPr lang="en-US" sz="1500" dirty="0"/>
          </a:p>
          <a:p>
            <a:pPr indent="0" marL="0">
              <a:lnSpc>
                <a:spcPct val="115000"/>
              </a:lnSpc>
              <a:buNone/>
            </a:pPr>
            <a:endParaRPr lang="en-US" sz="1500" dirty="0"/>
          </a:p>
          <a:p>
            <a:pPr indent="0" marL="0">
              <a:lnSpc>
                <a:spcPct val="115000"/>
              </a:lnSpc>
              <a:buNone/>
            </a:pPr>
            <a:r>
              <a:rPr lang="en-US" sz="1500" dirty="0">
                <a:solidFill>
                  <a:srgbClr val="5F5878"/>
                </a:solidFill>
                <a:latin typeface="Arial" pitchFamily="34" charset="0"/>
                <a:ea typeface="Arial" pitchFamily="34" charset="-122"/>
                <a:cs typeface="Arial" pitchFamily="34" charset="-120"/>
              </a:rPr>
              <a:t>RFC 8737 over port 443 if it does not — the challenge rides in the TLS handshake itself.</a:t>
            </a:r>
            <a:endParaRPr lang="en-US" sz="1500" dirty="0"/>
          </a:p>
          <a:p>
            <a:pPr indent="0" marL="0">
              <a:lnSpc>
                <a:spcPct val="115000"/>
              </a:lnSpc>
              <a:buNone/>
            </a:pPr>
            <a:endParaRPr lang="en-US" sz="1500" dirty="0"/>
          </a:p>
          <a:p>
            <a:pPr indent="0" marL="0">
              <a:lnSpc>
                <a:spcPct val="115000"/>
              </a:lnSpc>
              <a:buNone/>
            </a:pPr>
            <a:r>
              <a:rPr lang="en-US" sz="1500" dirty="0">
                <a:solidFill>
                  <a:srgbClr val="5F5878"/>
                </a:solidFill>
                <a:latin typeface="Arial" pitchFamily="34" charset="0"/>
                <a:ea typeface="Arial" pitchFamily="34" charset="-122"/>
                <a:cs typeface="Arial" pitchFamily="34" charset="-120"/>
              </a:rPr>
              <a:t>Whichever listener the appliance already has.</a:t>
            </a:r>
            <a:endParaRPr lang="en-US" sz="1500" dirty="0"/>
          </a:p>
        </p:txBody>
      </p:sp>
      <p:sp>
        <p:nvSpPr>
          <p:cNvPr id="10" name="Shape 7"/>
          <p:cNvSpPr/>
          <p:nvPr/>
        </p:nvSpPr>
        <p:spPr>
          <a:xfrm>
            <a:off x="6199632" y="1417320"/>
            <a:ext cx="5394960" cy="3657600"/>
          </a:xfrm>
          <a:prstGeom prst="roundRect">
            <a:avLst>
              <a:gd name="adj" fmla="val 2250"/>
            </a:avLst>
          </a:prstGeom>
          <a:solidFill>
            <a:srgbClr val="FFFFFF"/>
          </a:solidFill>
          <a:ln w="12700">
            <a:solidFill>
              <a:srgbClr val="CFC6EE"/>
            </a:solidFill>
            <a:prstDash val="solid"/>
          </a:ln>
        </p:spPr>
      </p:sp>
      <p:sp>
        <p:nvSpPr>
          <p:cNvPr id="11" name="Text 8"/>
          <p:cNvSpPr txBox="1"/>
          <p:nvPr/>
        </p:nvSpPr>
        <p:spPr>
          <a:xfrm>
            <a:off x="6492240" y="1673352"/>
            <a:ext cx="4809744" cy="256032"/>
          </a:xfrm>
          <a:prstGeom prst="rect">
            <a:avLst/>
          </a:prstGeom>
          <a:noFill/>
          <a:ln/>
        </p:spPr>
        <p:txBody>
          <a:bodyPr wrap="square" lIns="0" tIns="0" rIns="0" bIns="0" rtlCol="0" anchor="ctr"/>
          <a:lstStyle/>
          <a:p>
            <a:pPr indent="0" marL="0">
              <a:buNone/>
            </a:pPr>
            <a:r>
              <a:rPr lang="en-US" sz="1200" b="1" spc="100" kern="0" dirty="0">
                <a:solidFill>
                  <a:srgbClr val="4B18E8"/>
                </a:solidFill>
                <a:latin typeface="Courier New" pitchFamily="34" charset="0"/>
                <a:ea typeface="Courier New" pitchFamily="34" charset="-122"/>
                <a:cs typeface="Courier New" pitchFamily="34" charset="-120"/>
              </a:rPr>
              <a:t>UPSTREAM  ·  PROVE IT TO THEM</a:t>
            </a:r>
            <a:endParaRPr lang="en-US" sz="1200" dirty="0"/>
          </a:p>
        </p:txBody>
      </p:sp>
      <p:sp>
        <p:nvSpPr>
          <p:cNvPr id="12" name="Text 9"/>
          <p:cNvSpPr txBox="1"/>
          <p:nvPr/>
        </p:nvSpPr>
        <p:spPr>
          <a:xfrm>
            <a:off x="6492240" y="2002536"/>
            <a:ext cx="4809744" cy="1051560"/>
          </a:xfrm>
          <a:prstGeom prst="rect">
            <a:avLst/>
          </a:prstGeom>
          <a:noFill/>
          <a:ln/>
        </p:spPr>
        <p:txBody>
          <a:bodyPr wrap="square" lIns="0" tIns="0" rIns="0" bIns="0" rtlCol="0" anchor="t"/>
          <a:lstStyle/>
          <a:p>
            <a:pPr indent="0" marL="0">
              <a:buNone/>
            </a:pPr>
            <a:r>
              <a:rPr lang="en-US" sz="2600" b="1" dirty="0">
                <a:solidFill>
                  <a:srgbClr val="1A1533"/>
                </a:solidFill>
                <a:latin typeface="Courier New" pitchFamily="34" charset="0"/>
                <a:ea typeface="Courier New" pitchFamily="34" charset="-122"/>
                <a:cs typeface="Courier New" pitchFamily="34" charset="-120"/>
              </a:rPr>
              <a:t>dns-01</a:t>
            </a:r>
            <a:endParaRPr lang="en-US" sz="2600" dirty="0"/>
          </a:p>
          <a:p>
            <a:pPr indent="0" marL="0">
              <a:buNone/>
            </a:pPr>
            <a:r>
              <a:rPr lang="en-US" sz="2600" b="1" dirty="0">
                <a:solidFill>
                  <a:srgbClr val="1A1533"/>
                </a:solidFill>
                <a:latin typeface="Courier New" pitchFamily="34" charset="0"/>
                <a:ea typeface="Courier New" pitchFamily="34" charset="-122"/>
                <a:cs typeface="Courier New" pitchFamily="34" charset="-120"/>
              </a:rPr>
              <a:t>http-01 at the edge</a:t>
            </a:r>
            <a:endParaRPr lang="en-US" sz="2600" dirty="0"/>
          </a:p>
        </p:txBody>
      </p:sp>
      <p:sp>
        <p:nvSpPr>
          <p:cNvPr id="13" name="Text 10"/>
          <p:cNvSpPr txBox="1"/>
          <p:nvPr/>
        </p:nvSpPr>
        <p:spPr>
          <a:xfrm>
            <a:off x="6492240" y="3127248"/>
            <a:ext cx="4809744" cy="1746504"/>
          </a:xfrm>
          <a:prstGeom prst="rect">
            <a:avLst/>
          </a:prstGeom>
          <a:noFill/>
          <a:ln/>
        </p:spPr>
        <p:txBody>
          <a:bodyPr wrap="square" lIns="0" tIns="0" rIns="0" bIns="0" rtlCol="0" anchor="t"/>
          <a:lstStyle/>
          <a:p>
            <a:pPr indent="0" marL="0">
              <a:lnSpc>
                <a:spcPct val="115000"/>
              </a:lnSpc>
              <a:buNone/>
            </a:pPr>
            <a:r>
              <a:rPr lang="en-US" sz="1500" dirty="0">
                <a:solidFill>
                  <a:srgbClr val="5F5878"/>
                </a:solidFill>
                <a:latin typeface="Arial" pitchFamily="34" charset="0"/>
                <a:ea typeface="Arial" pitchFamily="34" charset="-122"/>
                <a:cs typeface="Arial" pitchFamily="34" charset="-120"/>
              </a:rPr>
              <a:t>dns-01 (default): nothing needs to be publicly reachable. Ever.</a:t>
            </a:r>
            <a:endParaRPr lang="en-US" sz="1500" dirty="0"/>
          </a:p>
          <a:p>
            <a:pPr indent="0" marL="0">
              <a:lnSpc>
                <a:spcPct val="115000"/>
              </a:lnSpc>
              <a:buNone/>
            </a:pPr>
            <a:endParaRPr lang="en-US" sz="1500" dirty="0"/>
          </a:p>
          <a:p>
            <a:pPr indent="0" marL="0">
              <a:lnSpc>
                <a:spcPct val="115000"/>
              </a:lnSpc>
              <a:buNone/>
            </a:pPr>
            <a:r>
              <a:rPr lang="en-US" sz="1500" dirty="0">
                <a:solidFill>
                  <a:srgbClr val="5F5878"/>
                </a:solidFill>
                <a:latin typeface="Arial" pitchFamily="34" charset="0"/>
                <a:ea typeface="Arial" pitchFamily="34" charset="-122"/>
                <a:cs typeface="Arial" pitchFamily="34" charset="-120"/>
              </a:rPr>
              <a:t>edge http-01: faster than DNS propagation, but you need a public IP and a wildcard A record.</a:t>
            </a:r>
            <a:endParaRPr lang="en-US" sz="1500" dirty="0"/>
          </a:p>
          <a:p>
            <a:pPr indent="0" marL="0">
              <a:lnSpc>
                <a:spcPct val="115000"/>
              </a:lnSpc>
              <a:buNone/>
            </a:pPr>
            <a:endParaRPr lang="en-US" sz="1500" dirty="0"/>
          </a:p>
          <a:p>
            <a:pPr indent="0" marL="0">
              <a:lnSpc>
                <a:spcPct val="115000"/>
              </a:lnSpc>
              <a:buNone/>
            </a:pPr>
            <a:r>
              <a:rPr lang="en-US" sz="1500" dirty="0">
                <a:solidFill>
                  <a:srgbClr val="5F5878"/>
                </a:solidFill>
                <a:latin typeface="Arial" pitchFamily="34" charset="0"/>
                <a:ea typeface="Arial" pitchFamily="34" charset="-122"/>
                <a:cs typeface="Arial" pitchFamily="34" charset="-120"/>
              </a:rPr>
              <a:t>One env var switches it.</a:t>
            </a:r>
            <a:endParaRPr lang="en-US" sz="1500" dirty="0"/>
          </a:p>
        </p:txBody>
      </p:sp>
      <p:sp>
        <p:nvSpPr>
          <p:cNvPr id="14" name="Text 11"/>
          <p:cNvSpPr txBox="1"/>
          <p:nvPr/>
        </p:nvSpPr>
        <p:spPr>
          <a:xfrm>
            <a:off x="594360" y="6144768"/>
            <a:ext cx="11064240" cy="365760"/>
          </a:xfrm>
          <a:prstGeom prst="rect">
            <a:avLst/>
          </a:prstGeom>
          <a:noFill/>
          <a:ln/>
        </p:spPr>
        <p:txBody>
          <a:bodyPr wrap="square" lIns="0" tIns="0" rIns="0" bIns="0" rtlCol="0" anchor="ctr"/>
          <a:lstStyle/>
          <a:p>
            <a:pPr algn="l" indent="0" marL="0">
              <a:buNone/>
            </a:pPr>
            <a:r>
              <a:rPr lang="en-US" sz="1200" dirty="0">
                <a:solidFill>
                  <a:srgbClr val="6B4EF0"/>
                </a:solidFill>
                <a:latin typeface="Courier New" pitchFamily="34" charset="0"/>
                <a:ea typeface="Courier New" pitchFamily="34" charset="-122"/>
                <a:cs typeface="Courier New" pitchFamily="34" charset="-120"/>
              </a:rPr>
              <a:t>ACME_LAN_UPSTREAM_CHALLENGE=dns-01</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4B18E8"/>
        </a:solidFill>
      </p:bgPr>
    </p:bg>
    <p:spTree>
      <p:nvGrpSpPr>
        <p:cNvPr id="1" name=""/>
        <p:cNvGrpSpPr/>
        <p:nvPr/>
      </p:nvGrpSpPr>
      <p:grpSpPr>
        <a:xfrm>
          <a:off x="0" y="0"/>
          <a:ext cx="0" cy="0"/>
          <a:chOff x="0" y="0"/>
          <a:chExt cx="0" cy="0"/>
        </a:xfrm>
      </p:grpSpPr>
      <p:sp>
        <p:nvSpPr>
          <p:cNvPr id="3" name="Text 0"/>
          <p:cNvSpPr txBox="1"/>
          <p:nvPr/>
        </p:nvSpPr>
        <p:spPr>
          <a:xfrm>
            <a:off x="777240" y="1417320"/>
            <a:ext cx="10789920" cy="1097280"/>
          </a:xfrm>
          <a:prstGeom prst="rect">
            <a:avLst/>
          </a:prstGeom>
          <a:noFill/>
          <a:ln/>
        </p:spPr>
        <p:txBody>
          <a:bodyPr wrap="square" lIns="0" tIns="0" rIns="0" bIns="0" rtlCol="0" anchor="ctr"/>
          <a:lstStyle/>
          <a:p>
            <a:pPr indent="0" marL="0">
              <a:buNone/>
            </a:pPr>
            <a:r>
              <a:rPr lang="en-US" sz="6200" b="1" dirty="0">
                <a:solidFill>
                  <a:srgbClr val="C2F166"/>
                </a:solidFill>
                <a:latin typeface="Arial" pitchFamily="34" charset="0"/>
                <a:ea typeface="Arial" pitchFamily="34" charset="-122"/>
                <a:cs typeface="Arial" pitchFamily="34" charset="-120"/>
              </a:rPr>
              <a:t>It’s always DNS.</a:t>
            </a:r>
            <a:endParaRPr lang="en-US" sz="6200" dirty="0"/>
          </a:p>
        </p:txBody>
      </p:sp>
      <p:sp>
        <p:nvSpPr>
          <p:cNvPr id="4" name="Text 1"/>
          <p:cNvSpPr txBox="1"/>
          <p:nvPr/>
        </p:nvSpPr>
        <p:spPr>
          <a:xfrm>
            <a:off x="822960" y="2697480"/>
            <a:ext cx="10607040" cy="914400"/>
          </a:xfrm>
          <a:prstGeom prst="rect">
            <a:avLst/>
          </a:prstGeom>
          <a:noFill/>
          <a:ln/>
        </p:spPr>
        <p:txBody>
          <a:bodyPr wrap="square" lIns="0" tIns="0" rIns="0" bIns="0" rtlCol="0" anchor="ctr"/>
          <a:lstStyle/>
          <a:p>
            <a:pPr indent="0" marL="0">
              <a:lnSpc>
                <a:spcPct val="115000"/>
              </a:lnSpc>
              <a:buNone/>
            </a:pPr>
            <a:r>
              <a:rPr lang="en-US" sz="2200" dirty="0">
                <a:solidFill>
                  <a:srgbClr val="B18CFA"/>
                </a:solidFill>
                <a:latin typeface="Arial" pitchFamily="34" charset="0"/>
                <a:ea typeface="Arial" pitchFamily="34" charset="-122"/>
                <a:cs typeface="Arial" pitchFamily="34" charset="-120"/>
              </a:rPr>
              <a:t>The protocol designers agreed with you so completely</a:t>
            </a:r>
            <a:endParaRPr lang="en-US" sz="2200" dirty="0"/>
          </a:p>
          <a:p>
            <a:pPr indent="0" marL="0">
              <a:lnSpc>
                <a:spcPct val="115000"/>
              </a:lnSpc>
              <a:buNone/>
            </a:pPr>
            <a:r>
              <a:rPr lang="en-US" sz="2200" dirty="0">
                <a:solidFill>
                  <a:srgbClr val="B18CFA"/>
                </a:solidFill>
                <a:latin typeface="Arial" pitchFamily="34" charset="0"/>
                <a:ea typeface="Arial" pitchFamily="34" charset="-122"/>
                <a:cs typeface="Arial" pitchFamily="34" charset="-120"/>
              </a:rPr>
              <a:t>they made a whole challenge type out of it.</a:t>
            </a:r>
            <a:endParaRPr lang="en-US" sz="2200" dirty="0"/>
          </a:p>
        </p:txBody>
      </p:sp>
      <p:sp>
        <p:nvSpPr>
          <p:cNvPr id="5" name="Shape 2"/>
          <p:cNvSpPr/>
          <p:nvPr/>
        </p:nvSpPr>
        <p:spPr>
          <a:xfrm>
            <a:off x="777240" y="3977640"/>
            <a:ext cx="10789920" cy="1371600"/>
          </a:xfrm>
          <a:prstGeom prst="roundRect">
            <a:avLst>
              <a:gd name="adj" fmla="val 6000"/>
            </a:avLst>
          </a:prstGeom>
          <a:solidFill>
            <a:srgbClr val="2E0C93"/>
          </a:solidFill>
          <a:ln w="25400">
            <a:solidFill>
              <a:srgbClr val="EF5539"/>
            </a:solidFill>
            <a:prstDash val="solid"/>
          </a:ln>
        </p:spPr>
      </p:sp>
      <p:sp>
        <p:nvSpPr>
          <p:cNvPr id="6" name="Text 3"/>
          <p:cNvSpPr txBox="1"/>
          <p:nvPr/>
        </p:nvSpPr>
        <p:spPr>
          <a:xfrm>
            <a:off x="1097280" y="4206240"/>
            <a:ext cx="10149840" cy="41148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But now one box holds a token that can rewrite your whole zone.</a:t>
            </a:r>
            <a:endParaRPr lang="en-US" sz="2400" dirty="0"/>
          </a:p>
        </p:txBody>
      </p:sp>
      <p:sp>
        <p:nvSpPr>
          <p:cNvPr id="7" name="Text 4"/>
          <p:cNvSpPr txBox="1"/>
          <p:nvPr/>
        </p:nvSpPr>
        <p:spPr>
          <a:xfrm>
            <a:off x="1097280" y="4681728"/>
            <a:ext cx="10149840" cy="411480"/>
          </a:xfrm>
          <a:prstGeom prst="rect">
            <a:avLst/>
          </a:prstGeom>
          <a:noFill/>
          <a:ln/>
        </p:spPr>
        <p:txBody>
          <a:bodyPr wrap="square" lIns="0" tIns="0" rIns="0" bIns="0" rtlCol="0" anchor="ctr"/>
          <a:lstStyle/>
          <a:p>
            <a:pPr indent="0" marL="0">
              <a:buNone/>
            </a:pPr>
            <a:r>
              <a:rPr lang="en-US" sz="1700" dirty="0">
                <a:solidFill>
                  <a:srgbClr val="B18CFA"/>
                </a:solidFill>
                <a:latin typeface="Arial" pitchFamily="34" charset="0"/>
                <a:ea typeface="Arial" pitchFamily="34" charset="-122"/>
                <a:cs typeface="Arial" pitchFamily="34" charset="-120"/>
              </a:rPr>
              <a:t>Better than thirty-seven copies of it. Still worth scoping down as far as your provider lets you.</a:t>
            </a:r>
            <a:endParaRPr lang="en-US" sz="1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AEAEA"/>
        </a:solidFill>
      </p:bgPr>
    </p:bg>
    <p:spTree>
      <p:nvGrpSpPr>
        <p:cNvPr id="1" name=""/>
        <p:cNvGrpSpPr/>
        <p:nvPr/>
      </p:nvGrpSpPr>
      <p:grpSpPr>
        <a:xfrm>
          <a:off x="0" y="0"/>
          <a:ext cx="0" cy="0"/>
          <a:chOff x="0" y="0"/>
          <a:chExt cx="0" cy="0"/>
        </a:xfrm>
      </p:grpSpPr>
      <p:sp>
        <p:nvSpPr>
          <p:cNvPr id="3" name="Shape 0"/>
          <p:cNvSpPr/>
          <p:nvPr/>
        </p:nvSpPr>
        <p:spPr>
          <a:xfrm>
            <a:off x="566928" y="384048"/>
            <a:ext cx="566928" cy="566928"/>
          </a:xfrm>
          <a:prstGeom prst="ellipse">
            <a:avLst/>
          </a:prstGeom>
          <a:solidFill>
            <a:srgbClr val="4B18E8"/>
          </a:solidFill>
          <a:ln/>
        </p:spPr>
      </p:sp>
      <p:sp>
        <p:nvSpPr>
          <p:cNvPr id="4" name="Text 1"/>
          <p:cNvSpPr txBox="1"/>
          <p:nvPr/>
        </p:nvSpPr>
        <p:spPr>
          <a:xfrm>
            <a:off x="566928" y="3840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9</a:t>
            </a:r>
            <a:endParaRPr lang="en-US" sz="2000" dirty="0"/>
          </a:p>
        </p:txBody>
      </p:sp>
      <p:sp>
        <p:nvSpPr>
          <p:cNvPr id="5" name="Text 2"/>
          <p:cNvSpPr txBox="1"/>
          <p:nvPr/>
        </p:nvSpPr>
        <p:spPr>
          <a:xfrm>
            <a:off x="1325880" y="329184"/>
            <a:ext cx="10332720" cy="713232"/>
          </a:xfrm>
          <a:prstGeom prst="rect">
            <a:avLst/>
          </a:prstGeom>
          <a:noFill/>
          <a:ln/>
        </p:spPr>
        <p:txBody>
          <a:bodyPr wrap="square" lIns="0" tIns="0" rIns="0" bIns="0" rtlCol="0" anchor="ctr"/>
          <a:lstStyle/>
          <a:p>
            <a:pPr algn="l" indent="0" marL="0">
              <a:buNone/>
            </a:pPr>
            <a:r>
              <a:rPr lang="en-US" sz="3400" b="1" dirty="0">
                <a:solidFill>
                  <a:srgbClr val="1A1533"/>
                </a:solidFill>
                <a:latin typeface="Arial" pitchFamily="34" charset="0"/>
                <a:ea typeface="Arial" pitchFamily="34" charset="-122"/>
                <a:cs typeface="Arial" pitchFamily="34" charset="-120"/>
              </a:rPr>
              <a:t>Delegate the challenge, not the zone</a:t>
            </a:r>
            <a:endParaRPr lang="en-US" sz="3400" dirty="0"/>
          </a:p>
        </p:txBody>
      </p:sp>
      <p:sp>
        <p:nvSpPr>
          <p:cNvPr id="6" name="Shape 3"/>
          <p:cNvSpPr/>
          <p:nvPr/>
        </p:nvSpPr>
        <p:spPr>
          <a:xfrm>
            <a:off x="594360" y="1325880"/>
            <a:ext cx="11000232" cy="1051560"/>
          </a:xfrm>
          <a:prstGeom prst="roundRect">
            <a:avLst>
              <a:gd name="adj" fmla="val 6957"/>
            </a:avLst>
          </a:prstGeom>
          <a:solidFill>
            <a:srgbClr val="EDE8FD"/>
          </a:solidFill>
          <a:ln w="12700">
            <a:solidFill>
              <a:srgbClr val="CFC6EE"/>
            </a:solidFill>
            <a:prstDash val="solid"/>
          </a:ln>
        </p:spPr>
      </p:sp>
      <p:sp>
        <p:nvSpPr>
          <p:cNvPr id="7" name="Text 4"/>
          <p:cNvSpPr txBox="1"/>
          <p:nvPr/>
        </p:nvSpPr>
        <p:spPr>
          <a:xfrm>
            <a:off x="914400" y="1325880"/>
            <a:ext cx="10424160" cy="1051560"/>
          </a:xfrm>
          <a:prstGeom prst="rect">
            <a:avLst/>
          </a:prstGeom>
          <a:noFill/>
          <a:ln/>
        </p:spPr>
        <p:txBody>
          <a:bodyPr wrap="square" lIns="0" tIns="0" rIns="0" bIns="0" rtlCol="0" anchor="ctr"/>
          <a:lstStyle/>
          <a:p>
            <a:pPr indent="0" marL="0">
              <a:buNone/>
            </a:pPr>
            <a:r>
              <a:rPr lang="en-US" sz="1700" b="1" dirty="0">
                <a:solidFill>
                  <a:srgbClr val="2E0C93"/>
                </a:solidFill>
                <a:latin typeface="Courier New" pitchFamily="34" charset="0"/>
                <a:ea typeface="Courier New" pitchFamily="34" charset="-122"/>
                <a:cs typeface="Courier New" pitchFamily="34" charset="-120"/>
              </a:rPr>
              <a:t>_acme-challenge.db.example.net.   CNAME   db.acme-delegated.example.net.</a:t>
            </a:r>
            <a:endParaRPr lang="en-US" sz="1700" dirty="0"/>
          </a:p>
        </p:txBody>
      </p:sp>
      <p:sp>
        <p:nvSpPr>
          <p:cNvPr id="8" name="Shape 5"/>
          <p:cNvSpPr/>
          <p:nvPr/>
        </p:nvSpPr>
        <p:spPr>
          <a:xfrm>
            <a:off x="594360" y="2606040"/>
            <a:ext cx="5394960" cy="2286000"/>
          </a:xfrm>
          <a:prstGeom prst="roundRect">
            <a:avLst>
              <a:gd name="adj" fmla="val 3600"/>
            </a:avLst>
          </a:prstGeom>
          <a:solidFill>
            <a:srgbClr val="FFFFFF"/>
          </a:solidFill>
          <a:ln w="12700">
            <a:solidFill>
              <a:srgbClr val="1F8A4F"/>
            </a:solidFill>
            <a:prstDash val="solid"/>
          </a:ln>
        </p:spPr>
      </p:sp>
      <p:sp>
        <p:nvSpPr>
          <p:cNvPr id="9" name="Text 6"/>
          <p:cNvSpPr txBox="1"/>
          <p:nvPr/>
        </p:nvSpPr>
        <p:spPr>
          <a:xfrm>
            <a:off x="886968" y="2862072"/>
            <a:ext cx="4809744" cy="256032"/>
          </a:xfrm>
          <a:prstGeom prst="rect">
            <a:avLst/>
          </a:prstGeom>
          <a:noFill/>
          <a:ln/>
        </p:spPr>
        <p:txBody>
          <a:bodyPr wrap="square" lIns="0" tIns="0" rIns="0" bIns="0" rtlCol="0" anchor="ctr"/>
          <a:lstStyle/>
          <a:p>
            <a:pPr indent="0" marL="0">
              <a:buNone/>
            </a:pPr>
            <a:r>
              <a:rPr lang="en-US" sz="1200" b="1" spc="100" kern="0" dirty="0">
                <a:solidFill>
                  <a:srgbClr val="1F8A4F"/>
                </a:solidFill>
                <a:latin typeface="Courier New" pitchFamily="34" charset="0"/>
                <a:ea typeface="Courier New" pitchFamily="34" charset="-122"/>
                <a:cs typeface="Courier New" pitchFamily="34" charset="-120"/>
              </a:rPr>
              <a:t>WHAT ACME-LAN HOLDS</a:t>
            </a:r>
            <a:endParaRPr lang="en-US" sz="1200" dirty="0"/>
          </a:p>
        </p:txBody>
      </p:sp>
      <p:sp>
        <p:nvSpPr>
          <p:cNvPr id="10" name="Text 7"/>
          <p:cNvSpPr txBox="1"/>
          <p:nvPr/>
        </p:nvSpPr>
        <p:spPr>
          <a:xfrm>
            <a:off x="886968" y="3191256"/>
            <a:ext cx="4809744" cy="502920"/>
          </a:xfrm>
          <a:prstGeom prst="rect">
            <a:avLst/>
          </a:prstGeom>
          <a:noFill/>
          <a:ln/>
        </p:spPr>
        <p:txBody>
          <a:bodyPr wrap="square" lIns="0" tIns="0" rIns="0" bIns="0" rtlCol="0" anchor="t"/>
          <a:lstStyle/>
          <a:p>
            <a:pPr indent="0" marL="0">
              <a:buNone/>
            </a:pPr>
            <a:r>
              <a:rPr lang="en-US" sz="2200" b="1" dirty="0">
                <a:solidFill>
                  <a:srgbClr val="1A1533"/>
                </a:solidFill>
                <a:latin typeface="Arial" pitchFamily="34" charset="0"/>
                <a:ea typeface="Arial" pitchFamily="34" charset="-122"/>
                <a:cs typeface="Arial" pitchFamily="34" charset="-120"/>
              </a:rPr>
              <a:t>One narrow token</a:t>
            </a:r>
            <a:endParaRPr lang="en-US" sz="2200" dirty="0"/>
          </a:p>
        </p:txBody>
      </p:sp>
      <p:sp>
        <p:nvSpPr>
          <p:cNvPr id="11" name="Text 8"/>
          <p:cNvSpPr txBox="1"/>
          <p:nvPr/>
        </p:nvSpPr>
        <p:spPr>
          <a:xfrm>
            <a:off x="886968" y="3767328"/>
            <a:ext cx="4809744" cy="923544"/>
          </a:xfrm>
          <a:prstGeom prst="rect">
            <a:avLst/>
          </a:prstGeom>
          <a:noFill/>
          <a:ln/>
        </p:spPr>
        <p:txBody>
          <a:bodyPr wrap="square" lIns="0" tIns="0" rIns="0" bIns="0" rtlCol="0" anchor="t"/>
          <a:lstStyle/>
          <a:p>
            <a:pPr indent="0" marL="0">
              <a:lnSpc>
                <a:spcPct val="115000"/>
              </a:lnSpc>
              <a:buNone/>
            </a:pPr>
            <a:r>
              <a:rPr lang="en-US" sz="1500" dirty="0">
                <a:solidFill>
                  <a:srgbClr val="1A1533"/>
                </a:solidFill>
                <a:latin typeface="Arial" pitchFamily="34" charset="0"/>
                <a:ea typeface="Arial" pitchFamily="34" charset="-122"/>
                <a:cs typeface="Arial" pitchFamily="34" charset="-120"/>
              </a:rPr>
              <a:t>Write access to the delegated zone only. Nothing in the zone that runs your mail, your website or your MX records.</a:t>
            </a:r>
            <a:endParaRPr lang="en-US" sz="1500" dirty="0"/>
          </a:p>
        </p:txBody>
      </p:sp>
      <p:sp>
        <p:nvSpPr>
          <p:cNvPr id="12" name="Shape 9"/>
          <p:cNvSpPr/>
          <p:nvPr/>
        </p:nvSpPr>
        <p:spPr>
          <a:xfrm>
            <a:off x="6199632" y="2606040"/>
            <a:ext cx="5394960" cy="2286000"/>
          </a:xfrm>
          <a:prstGeom prst="roundRect">
            <a:avLst>
              <a:gd name="adj" fmla="val 3600"/>
            </a:avLst>
          </a:prstGeom>
          <a:solidFill>
            <a:srgbClr val="FFFFFF"/>
          </a:solidFill>
          <a:ln w="12700">
            <a:solidFill>
              <a:srgbClr val="CFC6EE"/>
            </a:solidFill>
            <a:prstDash val="solid"/>
          </a:ln>
        </p:spPr>
      </p:sp>
      <p:sp>
        <p:nvSpPr>
          <p:cNvPr id="13" name="Text 10"/>
          <p:cNvSpPr txBox="1"/>
          <p:nvPr/>
        </p:nvSpPr>
        <p:spPr>
          <a:xfrm>
            <a:off x="6492240" y="2862072"/>
            <a:ext cx="4809744" cy="256032"/>
          </a:xfrm>
          <a:prstGeom prst="rect">
            <a:avLst/>
          </a:prstGeom>
          <a:noFill/>
          <a:ln/>
        </p:spPr>
        <p:txBody>
          <a:bodyPr wrap="square" lIns="0" tIns="0" rIns="0" bIns="0" rtlCol="0" anchor="ctr"/>
          <a:lstStyle/>
          <a:p>
            <a:pPr indent="0" marL="0">
              <a:buNone/>
            </a:pPr>
            <a:r>
              <a:rPr lang="en-US" sz="1200" b="1" spc="100" kern="0" dirty="0">
                <a:solidFill>
                  <a:srgbClr val="4B18E8"/>
                </a:solidFill>
                <a:latin typeface="Courier New" pitchFamily="34" charset="0"/>
                <a:ea typeface="Courier New" pitchFamily="34" charset="-122"/>
                <a:cs typeface="Courier New" pitchFamily="34" charset="-120"/>
              </a:rPr>
              <a:t>WHAT YOUR CLIENTS DO</a:t>
            </a:r>
            <a:endParaRPr lang="en-US" sz="1200" dirty="0"/>
          </a:p>
        </p:txBody>
      </p:sp>
      <p:sp>
        <p:nvSpPr>
          <p:cNvPr id="14" name="Text 11"/>
          <p:cNvSpPr txBox="1"/>
          <p:nvPr/>
        </p:nvSpPr>
        <p:spPr>
          <a:xfrm>
            <a:off x="6492240" y="3191256"/>
            <a:ext cx="4809744" cy="502920"/>
          </a:xfrm>
          <a:prstGeom prst="rect">
            <a:avLst/>
          </a:prstGeom>
          <a:noFill/>
          <a:ln/>
        </p:spPr>
        <p:txBody>
          <a:bodyPr wrap="square" lIns="0" tIns="0" rIns="0" bIns="0" rtlCol="0" anchor="t"/>
          <a:lstStyle/>
          <a:p>
            <a:pPr indent="0" marL="0">
              <a:buNone/>
            </a:pPr>
            <a:r>
              <a:rPr lang="en-US" sz="2200" b="1" dirty="0">
                <a:solidFill>
                  <a:srgbClr val="1A1533"/>
                </a:solidFill>
                <a:latin typeface="Arial" pitchFamily="34" charset="0"/>
                <a:ea typeface="Arial" pitchFamily="34" charset="-122"/>
                <a:cs typeface="Arial" pitchFamily="34" charset="-120"/>
              </a:rPr>
              <a:t>Nothing different</a:t>
            </a:r>
            <a:endParaRPr lang="en-US" sz="2200" dirty="0"/>
          </a:p>
        </p:txBody>
      </p:sp>
      <p:sp>
        <p:nvSpPr>
          <p:cNvPr id="15" name="Text 12"/>
          <p:cNvSpPr txBox="1"/>
          <p:nvPr/>
        </p:nvSpPr>
        <p:spPr>
          <a:xfrm>
            <a:off x="6492240" y="3767328"/>
            <a:ext cx="4809744" cy="923544"/>
          </a:xfrm>
          <a:prstGeom prst="rect">
            <a:avLst/>
          </a:prstGeom>
          <a:noFill/>
          <a:ln/>
        </p:spPr>
        <p:txBody>
          <a:bodyPr wrap="square" lIns="0" tIns="0" rIns="0" bIns="0" rtlCol="0" anchor="t"/>
          <a:lstStyle/>
          <a:p>
            <a:pPr indent="0" marL="0">
              <a:lnSpc>
                <a:spcPct val="115000"/>
              </a:lnSpc>
              <a:buNone/>
            </a:pPr>
            <a:r>
              <a:rPr lang="en-US" sz="1500" dirty="0">
                <a:solidFill>
                  <a:srgbClr val="1A1533"/>
                </a:solidFill>
                <a:latin typeface="Arial" pitchFamily="34" charset="0"/>
                <a:ea typeface="Arial" pitchFamily="34" charset="-122"/>
                <a:cs typeface="Arial" pitchFamily="34" charset="-120"/>
              </a:rPr>
              <a:t>The CA follows the CNAME on its own. It is in the spec, every provider supports it, and no client ever finds out.</a:t>
            </a:r>
            <a:endParaRPr lang="en-US" sz="1500" dirty="0"/>
          </a:p>
        </p:txBody>
      </p:sp>
      <p:sp>
        <p:nvSpPr>
          <p:cNvPr id="16" name="Text 13"/>
          <p:cNvSpPr txBox="1"/>
          <p:nvPr/>
        </p:nvSpPr>
        <p:spPr>
          <a:xfrm>
            <a:off x="594360" y="5074920"/>
            <a:ext cx="10972800" cy="502920"/>
          </a:xfrm>
          <a:prstGeom prst="rect">
            <a:avLst/>
          </a:prstGeom>
          <a:noFill/>
          <a:ln/>
        </p:spPr>
        <p:txBody>
          <a:bodyPr wrap="square" lIns="0" tIns="0" rIns="0" bIns="0" rtlCol="0" anchor="ctr"/>
          <a:lstStyle/>
          <a:p>
            <a:pPr indent="0" marL="0">
              <a:buNone/>
            </a:pPr>
            <a:r>
              <a:rPr lang="en-US" sz="2100" b="1" dirty="0">
                <a:solidFill>
                  <a:srgbClr val="4B18E8"/>
                </a:solidFill>
                <a:latin typeface="Arial" pitchFamily="34" charset="0"/>
                <a:ea typeface="Arial" pitchFamily="34" charset="-122"/>
                <a:cs typeface="Arial" pitchFamily="34" charset="-120"/>
              </a:rPr>
              <a:t>One record per name, set once. That is the whole blast-radius story.</a:t>
            </a:r>
            <a:endParaRPr lang="en-US" sz="2100" dirty="0"/>
          </a:p>
        </p:txBody>
      </p:sp>
      <p:sp>
        <p:nvSpPr>
          <p:cNvPr id="17" name="Text 14"/>
          <p:cNvSpPr txBox="1"/>
          <p:nvPr/>
        </p:nvSpPr>
        <p:spPr>
          <a:xfrm>
            <a:off x="594360" y="6144768"/>
            <a:ext cx="11064240" cy="365760"/>
          </a:xfrm>
          <a:prstGeom prst="rect">
            <a:avLst/>
          </a:prstGeom>
          <a:noFill/>
          <a:ln/>
        </p:spPr>
        <p:txBody>
          <a:bodyPr wrap="square" lIns="0" tIns="0" rIns="0" bIns="0" rtlCol="0" anchor="ctr"/>
          <a:lstStyle/>
          <a:p>
            <a:pPr algn="l" indent="0" marL="0">
              <a:buNone/>
            </a:pPr>
            <a:r>
              <a:rPr lang="en-US" sz="1200" dirty="0">
                <a:solidFill>
                  <a:srgbClr val="6B4EF0"/>
                </a:solidFill>
                <a:latin typeface="Courier New" pitchFamily="34" charset="0"/>
                <a:ea typeface="Courier New" pitchFamily="34" charset="-122"/>
                <a:cs typeface="Courier New" pitchFamily="34" charset="-120"/>
              </a:rPr>
              <a:t># works with cloudflare, route53, or whatever already runs your zone</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EAEAEA"/>
        </a:solidFill>
      </p:bgPr>
    </p:bg>
    <p:spTree>
      <p:nvGrpSpPr>
        <p:cNvPr id="1" name=""/>
        <p:cNvGrpSpPr/>
        <p:nvPr/>
      </p:nvGrpSpPr>
      <p:grpSpPr>
        <a:xfrm>
          <a:off x="0" y="0"/>
          <a:ext cx="0" cy="0"/>
          <a:chOff x="0" y="0"/>
          <a:chExt cx="0" cy="0"/>
        </a:xfrm>
      </p:grpSpPr>
      <p:sp>
        <p:nvSpPr>
          <p:cNvPr id="3" name="Shape 0"/>
          <p:cNvSpPr/>
          <p:nvPr/>
        </p:nvSpPr>
        <p:spPr>
          <a:xfrm>
            <a:off x="566928" y="384048"/>
            <a:ext cx="566928" cy="566928"/>
          </a:xfrm>
          <a:prstGeom prst="ellipse">
            <a:avLst/>
          </a:prstGeom>
          <a:solidFill>
            <a:srgbClr val="4B18E8"/>
          </a:solidFill>
          <a:ln/>
        </p:spPr>
      </p:sp>
      <p:sp>
        <p:nvSpPr>
          <p:cNvPr id="4" name="Text 1"/>
          <p:cNvSpPr txBox="1"/>
          <p:nvPr/>
        </p:nvSpPr>
        <p:spPr>
          <a:xfrm>
            <a:off x="566928" y="3840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10</a:t>
            </a:r>
            <a:endParaRPr lang="en-US" sz="2000" dirty="0"/>
          </a:p>
        </p:txBody>
      </p:sp>
      <p:sp>
        <p:nvSpPr>
          <p:cNvPr id="5" name="Text 2"/>
          <p:cNvSpPr txBox="1"/>
          <p:nvPr/>
        </p:nvSpPr>
        <p:spPr>
          <a:xfrm>
            <a:off x="1325880" y="329184"/>
            <a:ext cx="10332720" cy="713232"/>
          </a:xfrm>
          <a:prstGeom prst="rect">
            <a:avLst/>
          </a:prstGeom>
          <a:noFill/>
          <a:ln/>
        </p:spPr>
        <p:txBody>
          <a:bodyPr wrap="square" lIns="0" tIns="0" rIns="0" bIns="0" rtlCol="0" anchor="ctr"/>
          <a:lstStyle/>
          <a:p>
            <a:pPr algn="l" indent="0" marL="0">
              <a:buNone/>
            </a:pPr>
            <a:r>
              <a:rPr lang="en-US" sz="3400" b="1" dirty="0">
                <a:solidFill>
                  <a:srgbClr val="1A1533"/>
                </a:solidFill>
                <a:latin typeface="Arial" pitchFamily="34" charset="0"/>
                <a:ea typeface="Arial" pitchFamily="34" charset="-122"/>
                <a:cs typeface="Arial" pitchFamily="34" charset="-120"/>
              </a:rPr>
              <a:t>Where acme-dns fits</a:t>
            </a:r>
            <a:endParaRPr lang="en-US" sz="3400" dirty="0"/>
          </a:p>
        </p:txBody>
      </p:sp>
      <p:sp>
        <p:nvSpPr>
          <p:cNvPr id="6" name="Shape 3"/>
          <p:cNvSpPr/>
          <p:nvPr/>
        </p:nvSpPr>
        <p:spPr>
          <a:xfrm>
            <a:off x="594360" y="1371600"/>
            <a:ext cx="5394960" cy="3017520"/>
          </a:xfrm>
          <a:prstGeom prst="roundRect">
            <a:avLst>
              <a:gd name="adj" fmla="val 2727"/>
            </a:avLst>
          </a:prstGeom>
          <a:solidFill>
            <a:srgbClr val="FFFFFF"/>
          </a:solidFill>
          <a:ln w="12700">
            <a:solidFill>
              <a:srgbClr val="4B18E8"/>
            </a:solidFill>
            <a:prstDash val="solid"/>
          </a:ln>
        </p:spPr>
      </p:sp>
      <p:sp>
        <p:nvSpPr>
          <p:cNvPr id="7" name="Text 4"/>
          <p:cNvSpPr txBox="1"/>
          <p:nvPr/>
        </p:nvSpPr>
        <p:spPr>
          <a:xfrm>
            <a:off x="886968" y="1627632"/>
            <a:ext cx="4809744" cy="256032"/>
          </a:xfrm>
          <a:prstGeom prst="rect">
            <a:avLst/>
          </a:prstGeom>
          <a:noFill/>
          <a:ln/>
        </p:spPr>
        <p:txBody>
          <a:bodyPr wrap="square" lIns="0" tIns="0" rIns="0" bIns="0" rtlCol="0" anchor="ctr"/>
          <a:lstStyle/>
          <a:p>
            <a:pPr indent="0" marL="0">
              <a:buNone/>
            </a:pPr>
            <a:r>
              <a:rPr lang="en-US" sz="1200" b="1" spc="100" kern="0" dirty="0">
                <a:solidFill>
                  <a:srgbClr val="4B18E8"/>
                </a:solidFill>
                <a:latin typeface="Courier New" pitchFamily="34" charset="0"/>
                <a:ea typeface="Courier New" pitchFamily="34" charset="-122"/>
                <a:cs typeface="Courier New" pitchFamily="34" charset="-120"/>
              </a:rPr>
              <a:t>SUPPORTED, AND GENUINELY NEAT</a:t>
            </a:r>
            <a:endParaRPr lang="en-US" sz="1200" dirty="0"/>
          </a:p>
        </p:txBody>
      </p:sp>
      <p:sp>
        <p:nvSpPr>
          <p:cNvPr id="8" name="Text 5"/>
          <p:cNvSpPr txBox="1"/>
          <p:nvPr/>
        </p:nvSpPr>
        <p:spPr>
          <a:xfrm>
            <a:off x="886968" y="1956816"/>
            <a:ext cx="4809744" cy="502920"/>
          </a:xfrm>
          <a:prstGeom prst="rect">
            <a:avLst/>
          </a:prstGeom>
          <a:noFill/>
          <a:ln/>
        </p:spPr>
        <p:txBody>
          <a:bodyPr wrap="square" lIns="0" tIns="0" rIns="0" bIns="0" rtlCol="0" anchor="t"/>
          <a:lstStyle/>
          <a:p>
            <a:pPr indent="0" marL="0">
              <a:buNone/>
            </a:pPr>
            <a:r>
              <a:rPr lang="en-US" sz="2100" b="1" dirty="0">
                <a:solidFill>
                  <a:srgbClr val="1A1533"/>
                </a:solidFill>
                <a:latin typeface="Arial" pitchFamily="34" charset="0"/>
                <a:ea typeface="Arial" pitchFamily="34" charset="-122"/>
                <a:cs typeface="Arial" pitchFamily="34" charset="-120"/>
              </a:rPr>
              <a:t>A DNS server with one opinion</a:t>
            </a:r>
            <a:endParaRPr lang="en-US" sz="2100" dirty="0"/>
          </a:p>
        </p:txBody>
      </p:sp>
      <p:sp>
        <p:nvSpPr>
          <p:cNvPr id="9" name="Text 6"/>
          <p:cNvSpPr txBox="1"/>
          <p:nvPr/>
        </p:nvSpPr>
        <p:spPr>
          <a:xfrm>
            <a:off x="886968" y="2532888"/>
            <a:ext cx="4809744" cy="1655064"/>
          </a:xfrm>
          <a:prstGeom prst="rect">
            <a:avLst/>
          </a:prstGeom>
          <a:noFill/>
          <a:ln/>
        </p:spPr>
        <p:txBody>
          <a:bodyPr wrap="square" lIns="0" tIns="0" rIns="0" bIns="0" rtlCol="0" anchor="t"/>
          <a:lstStyle/>
          <a:p>
            <a:pPr indent="0" marL="0">
              <a:lnSpc>
                <a:spcPct val="115000"/>
              </a:lnSpc>
              <a:buNone/>
            </a:pPr>
            <a:r>
              <a:rPr lang="en-US" sz="1500" dirty="0">
                <a:solidFill>
                  <a:srgbClr val="1A1533"/>
                </a:solidFill>
                <a:latin typeface="Arial" pitchFamily="34" charset="0"/>
                <a:ea typeface="Arial" pitchFamily="34" charset="-122"/>
                <a:cs typeface="Arial" pitchFamily="34" charset="-120"/>
              </a:rPr>
              <a:t>Register once, add the CNAME, and acme-lan POSTs each TXT value to /update. Removal is a no-op — acme-dns expires them itself.</a:t>
            </a:r>
            <a:endParaRPr lang="en-US" sz="1500" dirty="0"/>
          </a:p>
        </p:txBody>
      </p:sp>
      <p:sp>
        <p:nvSpPr>
          <p:cNvPr id="10" name="Shape 7"/>
          <p:cNvSpPr/>
          <p:nvPr/>
        </p:nvSpPr>
        <p:spPr>
          <a:xfrm>
            <a:off x="6199632" y="1371600"/>
            <a:ext cx="5394960" cy="3017520"/>
          </a:xfrm>
          <a:prstGeom prst="roundRect">
            <a:avLst>
              <a:gd name="adj" fmla="val 2727"/>
            </a:avLst>
          </a:prstGeom>
          <a:solidFill>
            <a:srgbClr val="FFFFFF"/>
          </a:solidFill>
          <a:ln w="12700">
            <a:solidFill>
              <a:srgbClr val="EF5539"/>
            </a:solidFill>
            <a:prstDash val="solid"/>
          </a:ln>
        </p:spPr>
      </p:sp>
      <p:sp>
        <p:nvSpPr>
          <p:cNvPr id="11" name="Text 8"/>
          <p:cNvSpPr txBox="1"/>
          <p:nvPr/>
        </p:nvSpPr>
        <p:spPr>
          <a:xfrm>
            <a:off x="6492240" y="1627632"/>
            <a:ext cx="4809744" cy="256032"/>
          </a:xfrm>
          <a:prstGeom prst="rect">
            <a:avLst/>
          </a:prstGeom>
          <a:noFill/>
          <a:ln/>
        </p:spPr>
        <p:txBody>
          <a:bodyPr wrap="square" lIns="0" tIns="0" rIns="0" bIns="0" rtlCol="0" anchor="ctr"/>
          <a:lstStyle/>
          <a:p>
            <a:pPr indent="0" marL="0">
              <a:buNone/>
            </a:pPr>
            <a:r>
              <a:rPr lang="en-US" sz="1200" b="1" spc="100" kern="0" dirty="0">
                <a:solidFill>
                  <a:srgbClr val="EF5539"/>
                </a:solidFill>
                <a:latin typeface="Courier New" pitchFamily="34" charset="0"/>
                <a:ea typeface="Courier New" pitchFamily="34" charset="-122"/>
                <a:cs typeface="Courier New" pitchFamily="34" charset="-120"/>
              </a:rPr>
              <a:t>WHAT IT ADDS OVER A PLAIN CNAME</a:t>
            </a:r>
            <a:endParaRPr lang="en-US" sz="1200" dirty="0"/>
          </a:p>
        </p:txBody>
      </p:sp>
      <p:sp>
        <p:nvSpPr>
          <p:cNvPr id="12" name="Text 9"/>
          <p:cNvSpPr txBox="1"/>
          <p:nvPr/>
        </p:nvSpPr>
        <p:spPr>
          <a:xfrm>
            <a:off x="6492240" y="1956816"/>
            <a:ext cx="4809744" cy="502920"/>
          </a:xfrm>
          <a:prstGeom prst="rect">
            <a:avLst/>
          </a:prstGeom>
          <a:noFill/>
          <a:ln/>
        </p:spPr>
        <p:txBody>
          <a:bodyPr wrap="square" lIns="0" tIns="0" rIns="0" bIns="0" rtlCol="0" anchor="t"/>
          <a:lstStyle/>
          <a:p>
            <a:pPr indent="0" marL="0">
              <a:buNone/>
            </a:pPr>
            <a:r>
              <a:rPr lang="en-US" sz="2100" b="1" dirty="0">
                <a:solidFill>
                  <a:srgbClr val="1A1533"/>
                </a:solidFill>
                <a:latin typeface="Arial" pitchFamily="34" charset="0"/>
                <a:ea typeface="Arial" pitchFamily="34" charset="-122"/>
                <a:cs typeface="Arial" pitchFamily="34" charset="-120"/>
              </a:rPr>
              <a:t>An internet-facing DNS server</a:t>
            </a:r>
            <a:endParaRPr lang="en-US" sz="2100" dirty="0"/>
          </a:p>
        </p:txBody>
      </p:sp>
      <p:sp>
        <p:nvSpPr>
          <p:cNvPr id="13" name="Text 10"/>
          <p:cNvSpPr txBox="1"/>
          <p:nvPr/>
        </p:nvSpPr>
        <p:spPr>
          <a:xfrm>
            <a:off x="6492240" y="2532888"/>
            <a:ext cx="4809744" cy="1655064"/>
          </a:xfrm>
          <a:prstGeom prst="rect">
            <a:avLst/>
          </a:prstGeom>
          <a:noFill/>
          <a:ln/>
        </p:spPr>
        <p:txBody>
          <a:bodyPr wrap="square" lIns="0" tIns="0" rIns="0" bIns="0" rtlCol="0" anchor="t"/>
          <a:lstStyle/>
          <a:p>
            <a:pPr indent="0" marL="0">
              <a:lnSpc>
                <a:spcPct val="115000"/>
              </a:lnSpc>
              <a:buNone/>
            </a:pPr>
            <a:r>
              <a:rPr lang="en-US" sz="1500" dirty="0">
                <a:solidFill>
                  <a:srgbClr val="1A1533"/>
                </a:solidFill>
                <a:latin typeface="Arial" pitchFamily="34" charset="0"/>
                <a:ea typeface="Arial" pitchFamily="34" charset="-122"/>
                <a:cs typeface="Arial" pitchFamily="34" charset="-120"/>
              </a:rPr>
              <a:t>One more service to run, patch and monitor — and on its own it needs clients that speak acme-dns, which most appliances never will.</a:t>
            </a:r>
            <a:endParaRPr lang="en-US" sz="1500" dirty="0"/>
          </a:p>
        </p:txBody>
      </p:sp>
      <p:sp>
        <p:nvSpPr>
          <p:cNvPr id="14" name="Text 11"/>
          <p:cNvSpPr txBox="1"/>
          <p:nvPr/>
        </p:nvSpPr>
        <p:spPr>
          <a:xfrm>
            <a:off x="594360" y="4572000"/>
            <a:ext cx="10972800" cy="457200"/>
          </a:xfrm>
          <a:prstGeom prst="rect">
            <a:avLst/>
          </a:prstGeom>
          <a:noFill/>
          <a:ln/>
        </p:spPr>
        <p:txBody>
          <a:bodyPr wrap="square" lIns="0" tIns="0" rIns="0" bIns="0" rtlCol="0" anchor="ctr"/>
          <a:lstStyle/>
          <a:p>
            <a:pPr indent="0" marL="0">
              <a:buNone/>
            </a:pPr>
            <a:r>
              <a:rPr lang="en-US" sz="2100" b="1" dirty="0">
                <a:solidFill>
                  <a:srgbClr val="1A1533"/>
                </a:solidFill>
                <a:latin typeface="Arial" pitchFamily="34" charset="0"/>
                <a:ea typeface="Arial" pitchFamily="34" charset="-122"/>
                <a:cs typeface="Arial" pitchFamily="34" charset="-120"/>
              </a:rPr>
              <a:t>Same blast radius as the CNAME you already made. More moving parts.</a:t>
            </a:r>
            <a:endParaRPr lang="en-US" sz="2100" dirty="0"/>
          </a:p>
        </p:txBody>
      </p:sp>
      <p:sp>
        <p:nvSpPr>
          <p:cNvPr id="15" name="Text 12"/>
          <p:cNvSpPr txBox="1"/>
          <p:nvPr/>
        </p:nvSpPr>
        <p:spPr>
          <a:xfrm>
            <a:off x="594360" y="5120640"/>
            <a:ext cx="10972800" cy="457200"/>
          </a:xfrm>
          <a:prstGeom prst="rect">
            <a:avLst/>
          </a:prstGeom>
          <a:noFill/>
          <a:ln/>
        </p:spPr>
        <p:txBody>
          <a:bodyPr wrap="square" lIns="0" tIns="0" rIns="0" bIns="0" rtlCol="0" anchor="ctr"/>
          <a:lstStyle/>
          <a:p>
            <a:pPr indent="0" marL="0">
              <a:buNone/>
            </a:pPr>
            <a:r>
              <a:rPr lang="en-US" sz="1900" dirty="0">
                <a:solidFill>
                  <a:srgbClr val="4B18E8"/>
                </a:solidFill>
                <a:latin typeface="Arial" pitchFamily="34" charset="0"/>
                <a:ea typeface="Arial" pitchFamily="34" charset="-122"/>
                <a:cs typeface="Arial" pitchFamily="34" charset="-120"/>
              </a:rPr>
              <a:t>It is an alternative architecture, not an upgrade. Configure it if you already run acme-dns; otherwise delegate and move on.</a:t>
            </a:r>
            <a:endParaRPr lang="en-US" sz="1900" dirty="0"/>
          </a:p>
        </p:txBody>
      </p:sp>
      <p:sp>
        <p:nvSpPr>
          <p:cNvPr id="16" name="Text 13"/>
          <p:cNvSpPr txBox="1"/>
          <p:nvPr/>
        </p:nvSpPr>
        <p:spPr>
          <a:xfrm>
            <a:off x="594360" y="6144768"/>
            <a:ext cx="11064240" cy="365760"/>
          </a:xfrm>
          <a:prstGeom prst="rect">
            <a:avLst/>
          </a:prstGeom>
          <a:noFill/>
          <a:ln/>
        </p:spPr>
        <p:txBody>
          <a:bodyPr wrap="square" lIns="0" tIns="0" rIns="0" bIns="0" rtlCol="0" anchor="ctr"/>
          <a:lstStyle/>
          <a:p>
            <a:pPr algn="l" indent="0" marL="0">
              <a:buNone/>
            </a:pPr>
            <a:r>
              <a:rPr lang="en-US" sz="1200" dirty="0">
                <a:solidFill>
                  <a:srgbClr val="6B4EF0"/>
                </a:solidFill>
                <a:latin typeface="Courier New" pitchFamily="34" charset="0"/>
                <a:ea typeface="Courier New" pitchFamily="34" charset="-122"/>
                <a:cs typeface="Courier New" pitchFamily="34" charset="-120"/>
              </a:rPr>
              <a:t>ACME_LAN_DNS_PROVIDER=acmedns   # or cloudflare, if you would rather not</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EAEAEA"/>
        </a:solidFill>
      </p:bgPr>
    </p:bg>
    <p:spTree>
      <p:nvGrpSpPr>
        <p:cNvPr id="1" name=""/>
        <p:cNvGrpSpPr/>
        <p:nvPr/>
      </p:nvGrpSpPr>
      <p:grpSpPr>
        <a:xfrm>
          <a:off x="0" y="0"/>
          <a:ext cx="0" cy="0"/>
          <a:chOff x="0" y="0"/>
          <a:chExt cx="0" cy="0"/>
        </a:xfrm>
      </p:grpSpPr>
      <p:sp>
        <p:nvSpPr>
          <p:cNvPr id="3" name="Shape 0"/>
          <p:cNvSpPr/>
          <p:nvPr/>
        </p:nvSpPr>
        <p:spPr>
          <a:xfrm>
            <a:off x="566928" y="384048"/>
            <a:ext cx="566928" cy="566928"/>
          </a:xfrm>
          <a:prstGeom prst="ellipse">
            <a:avLst/>
          </a:prstGeom>
          <a:solidFill>
            <a:srgbClr val="4B18E8"/>
          </a:solidFill>
          <a:ln/>
        </p:spPr>
      </p:sp>
      <p:sp>
        <p:nvSpPr>
          <p:cNvPr id="4" name="Text 1"/>
          <p:cNvSpPr txBox="1"/>
          <p:nvPr/>
        </p:nvSpPr>
        <p:spPr>
          <a:xfrm>
            <a:off x="566928" y="3840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11</a:t>
            </a:r>
            <a:endParaRPr lang="en-US" sz="2000" dirty="0"/>
          </a:p>
        </p:txBody>
      </p:sp>
      <p:sp>
        <p:nvSpPr>
          <p:cNvPr id="5" name="Text 2"/>
          <p:cNvSpPr txBox="1"/>
          <p:nvPr/>
        </p:nvSpPr>
        <p:spPr>
          <a:xfrm>
            <a:off x="1325880" y="329184"/>
            <a:ext cx="10332720" cy="713232"/>
          </a:xfrm>
          <a:prstGeom prst="rect">
            <a:avLst/>
          </a:prstGeom>
          <a:noFill/>
          <a:ln/>
        </p:spPr>
        <p:txBody>
          <a:bodyPr wrap="square" lIns="0" tIns="0" rIns="0" bIns="0" rtlCol="0" anchor="ctr"/>
          <a:lstStyle/>
          <a:p>
            <a:pPr algn="l" indent="0" marL="0">
              <a:buNone/>
            </a:pPr>
            <a:r>
              <a:rPr lang="en-US" sz="3400" b="1" dirty="0">
                <a:solidFill>
                  <a:srgbClr val="1A1533"/>
                </a:solidFill>
                <a:latin typeface="Arial" pitchFamily="34" charset="0"/>
                <a:ea typeface="Arial" pitchFamily="34" charset="-122"/>
                <a:cs typeface="Arial" pitchFamily="34" charset="-120"/>
              </a:rPr>
              <a:t>For the things that will never run ACME</a:t>
            </a:r>
            <a:endParaRPr lang="en-US" sz="3400" dirty="0"/>
          </a:p>
        </p:txBody>
      </p:sp>
      <p:sp>
        <p:nvSpPr>
          <p:cNvPr id="6" name="Shape 3"/>
          <p:cNvSpPr/>
          <p:nvPr/>
        </p:nvSpPr>
        <p:spPr>
          <a:xfrm>
            <a:off x="594360" y="1371600"/>
            <a:ext cx="5394960" cy="3200400"/>
          </a:xfrm>
          <a:prstGeom prst="roundRect">
            <a:avLst>
              <a:gd name="adj" fmla="val 2571"/>
            </a:avLst>
          </a:prstGeom>
          <a:solidFill>
            <a:srgbClr val="FFFFFF"/>
          </a:solidFill>
          <a:ln w="12700">
            <a:solidFill>
              <a:srgbClr val="1F8A4F"/>
            </a:solidFill>
            <a:prstDash val="solid"/>
          </a:ln>
        </p:spPr>
      </p:sp>
      <p:sp>
        <p:nvSpPr>
          <p:cNvPr id="7" name="Text 4"/>
          <p:cNvSpPr txBox="1"/>
          <p:nvPr/>
        </p:nvSpPr>
        <p:spPr>
          <a:xfrm>
            <a:off x="886968" y="1627632"/>
            <a:ext cx="4809744" cy="256032"/>
          </a:xfrm>
          <a:prstGeom prst="rect">
            <a:avLst/>
          </a:prstGeom>
          <a:noFill/>
          <a:ln/>
        </p:spPr>
        <p:txBody>
          <a:bodyPr wrap="square" lIns="0" tIns="0" rIns="0" bIns="0" rtlCol="0" anchor="ctr"/>
          <a:lstStyle/>
          <a:p>
            <a:pPr indent="0" marL="0">
              <a:buNone/>
            </a:pPr>
            <a:r>
              <a:rPr lang="en-US" sz="1200" b="1" spc="100" kern="0" dirty="0">
                <a:solidFill>
                  <a:srgbClr val="1F8A4F"/>
                </a:solidFill>
                <a:latin typeface="Courier New" pitchFamily="34" charset="0"/>
                <a:ea typeface="Courier New" pitchFamily="34" charset="-122"/>
                <a:cs typeface="Courier New" pitchFamily="34" charset="-120"/>
              </a:rPr>
              <a:t>MODE: DEVICE   (PREFERRED)</a:t>
            </a:r>
            <a:endParaRPr lang="en-US" sz="1200" dirty="0"/>
          </a:p>
        </p:txBody>
      </p:sp>
      <p:sp>
        <p:nvSpPr>
          <p:cNvPr id="8" name="Text 5"/>
          <p:cNvSpPr txBox="1"/>
          <p:nvPr/>
        </p:nvSpPr>
        <p:spPr>
          <a:xfrm>
            <a:off x="886968" y="1956816"/>
            <a:ext cx="4809744" cy="502920"/>
          </a:xfrm>
          <a:prstGeom prst="rect">
            <a:avLst/>
          </a:prstGeom>
          <a:noFill/>
          <a:ln/>
        </p:spPr>
        <p:txBody>
          <a:bodyPr wrap="square" lIns="0" tIns="0" rIns="0" bIns="0" rtlCol="0" anchor="t"/>
          <a:lstStyle/>
          <a:p>
            <a:pPr indent="0" marL="0">
              <a:buNone/>
            </a:pPr>
            <a:r>
              <a:rPr lang="en-US" sz="2200" b="1" dirty="0">
                <a:solidFill>
                  <a:srgbClr val="1A1533"/>
                </a:solidFill>
                <a:latin typeface="Arial" pitchFamily="34" charset="0"/>
                <a:ea typeface="Arial" pitchFamily="34" charset="-122"/>
                <a:cs typeface="Arial" pitchFamily="34" charset="-120"/>
              </a:rPr>
              <a:t>The key never leaves the box</a:t>
            </a:r>
            <a:endParaRPr lang="en-US" sz="2200" dirty="0"/>
          </a:p>
        </p:txBody>
      </p:sp>
      <p:sp>
        <p:nvSpPr>
          <p:cNvPr id="9" name="Text 6"/>
          <p:cNvSpPr txBox="1"/>
          <p:nvPr/>
        </p:nvSpPr>
        <p:spPr>
          <a:xfrm>
            <a:off x="886968" y="2532888"/>
            <a:ext cx="4809744" cy="1837944"/>
          </a:xfrm>
          <a:prstGeom prst="rect">
            <a:avLst/>
          </a:prstGeom>
          <a:noFill/>
          <a:ln/>
        </p:spPr>
        <p:txBody>
          <a:bodyPr wrap="square" lIns="0" tIns="0" rIns="0" bIns="0" rtlCol="0" anchor="t"/>
          <a:lstStyle/>
          <a:p>
            <a:pPr indent="0" marL="0">
              <a:lnSpc>
                <a:spcPct val="115000"/>
              </a:lnSpc>
              <a:buNone/>
            </a:pPr>
            <a:r>
              <a:rPr lang="en-US" sz="1500" dirty="0">
                <a:solidFill>
                  <a:srgbClr val="5F5878"/>
                </a:solidFill>
                <a:latin typeface="Arial" pitchFamily="34" charset="0"/>
                <a:ea typeface="Arial" pitchFamily="34" charset="-122"/>
                <a:cs typeface="Arial" pitchFamily="34" charset="-120"/>
              </a:rPr>
              <a:t>Fetch a CSR the device generated itself, sign it upstream, push back only the certificate.</a:t>
            </a:r>
            <a:endParaRPr lang="en-US" sz="1500" dirty="0"/>
          </a:p>
          <a:p>
            <a:pPr indent="0" marL="0">
              <a:lnSpc>
                <a:spcPct val="115000"/>
              </a:lnSpc>
              <a:buNone/>
            </a:pPr>
            <a:endParaRPr lang="en-US" sz="1500" dirty="0"/>
          </a:p>
          <a:p>
            <a:pPr indent="0" marL="0">
              <a:lnSpc>
                <a:spcPct val="115000"/>
              </a:lnSpc>
              <a:buNone/>
            </a:pPr>
            <a:r>
              <a:rPr lang="en-US" sz="1500" dirty="0">
                <a:solidFill>
                  <a:srgbClr val="5F5878"/>
                </a:solidFill>
                <a:latin typeface="Arial" pitchFamily="34" charset="0"/>
                <a:ea typeface="Arial" pitchFamily="34" charset="-122"/>
                <a:cs typeface="Arial" pitchFamily="34" charset="-120"/>
              </a:rPr>
              <a:t>Nothing secret ever crosses the wire.</a:t>
            </a:r>
            <a:endParaRPr lang="en-US" sz="1500" dirty="0"/>
          </a:p>
        </p:txBody>
      </p:sp>
      <p:sp>
        <p:nvSpPr>
          <p:cNvPr id="10" name="Shape 7"/>
          <p:cNvSpPr/>
          <p:nvPr/>
        </p:nvSpPr>
        <p:spPr>
          <a:xfrm>
            <a:off x="6199632" y="1371600"/>
            <a:ext cx="5394960" cy="3200400"/>
          </a:xfrm>
          <a:prstGeom prst="roundRect">
            <a:avLst>
              <a:gd name="adj" fmla="val 2571"/>
            </a:avLst>
          </a:prstGeom>
          <a:solidFill>
            <a:srgbClr val="FFFFFF"/>
          </a:solidFill>
          <a:ln w="12700">
            <a:solidFill>
              <a:srgbClr val="4B18E8"/>
            </a:solidFill>
            <a:prstDash val="solid"/>
          </a:ln>
        </p:spPr>
      </p:sp>
      <p:sp>
        <p:nvSpPr>
          <p:cNvPr id="11" name="Text 8"/>
          <p:cNvSpPr txBox="1"/>
          <p:nvPr/>
        </p:nvSpPr>
        <p:spPr>
          <a:xfrm>
            <a:off x="6492240" y="1627632"/>
            <a:ext cx="4809744" cy="256032"/>
          </a:xfrm>
          <a:prstGeom prst="rect">
            <a:avLst/>
          </a:prstGeom>
          <a:noFill/>
          <a:ln/>
        </p:spPr>
        <p:txBody>
          <a:bodyPr wrap="square" lIns="0" tIns="0" rIns="0" bIns="0" rtlCol="0" anchor="ctr"/>
          <a:lstStyle/>
          <a:p>
            <a:pPr indent="0" marL="0">
              <a:buNone/>
            </a:pPr>
            <a:r>
              <a:rPr lang="en-US" sz="1200" b="1" spc="100" kern="0" dirty="0">
                <a:solidFill>
                  <a:srgbClr val="4B18E8"/>
                </a:solidFill>
                <a:latin typeface="Courier New" pitchFamily="34" charset="0"/>
                <a:ea typeface="Courier New" pitchFamily="34" charset="-122"/>
                <a:cs typeface="Courier New" pitchFamily="34" charset="-120"/>
              </a:rPr>
              <a:t>MODE: LOCAL</a:t>
            </a:r>
            <a:endParaRPr lang="en-US" sz="1200" dirty="0"/>
          </a:p>
        </p:txBody>
      </p:sp>
      <p:sp>
        <p:nvSpPr>
          <p:cNvPr id="12" name="Text 9"/>
          <p:cNvSpPr txBox="1"/>
          <p:nvPr/>
        </p:nvSpPr>
        <p:spPr>
          <a:xfrm>
            <a:off x="6492240" y="1956816"/>
            <a:ext cx="4809744" cy="502920"/>
          </a:xfrm>
          <a:prstGeom prst="rect">
            <a:avLst/>
          </a:prstGeom>
          <a:noFill/>
          <a:ln/>
        </p:spPr>
        <p:txBody>
          <a:bodyPr wrap="square" lIns="0" tIns="0" rIns="0" bIns="0" rtlCol="0" anchor="t"/>
          <a:lstStyle/>
          <a:p>
            <a:pPr indent="0" marL="0">
              <a:buNone/>
            </a:pPr>
            <a:r>
              <a:rPr lang="en-US" sz="2200" b="1" dirty="0">
                <a:solidFill>
                  <a:srgbClr val="1A1533"/>
                </a:solidFill>
                <a:latin typeface="Arial" pitchFamily="34" charset="0"/>
                <a:ea typeface="Arial" pitchFamily="34" charset="-122"/>
                <a:cs typeface="Arial" pitchFamily="34" charset="-120"/>
              </a:rPr>
              <a:t>We make the key and push both</a:t>
            </a:r>
            <a:endParaRPr lang="en-US" sz="2200" dirty="0"/>
          </a:p>
        </p:txBody>
      </p:sp>
      <p:sp>
        <p:nvSpPr>
          <p:cNvPr id="13" name="Text 10"/>
          <p:cNvSpPr txBox="1"/>
          <p:nvPr/>
        </p:nvSpPr>
        <p:spPr>
          <a:xfrm>
            <a:off x="6492240" y="2532888"/>
            <a:ext cx="4809744" cy="1837944"/>
          </a:xfrm>
          <a:prstGeom prst="rect">
            <a:avLst/>
          </a:prstGeom>
          <a:noFill/>
          <a:ln/>
        </p:spPr>
        <p:txBody>
          <a:bodyPr wrap="square" lIns="0" tIns="0" rIns="0" bIns="0" rtlCol="0" anchor="t"/>
          <a:lstStyle/>
          <a:p>
            <a:pPr indent="0" marL="0">
              <a:lnSpc>
                <a:spcPct val="115000"/>
              </a:lnSpc>
              <a:buNone/>
            </a:pPr>
            <a:r>
              <a:rPr lang="en-US" sz="1500" dirty="0">
                <a:solidFill>
                  <a:srgbClr val="5F5878"/>
                </a:solidFill>
                <a:latin typeface="Arial" pitchFamily="34" charset="0"/>
                <a:ea typeface="Arial" pitchFamily="34" charset="-122"/>
                <a:cs typeface="Arial" pitchFamily="34" charset="-120"/>
              </a:rPr>
              <a:t>For gear that cannot generate a CSR. The key is stored encrypted — never in plaintext at rest — and the UI tells you off about it anyway.</a:t>
            </a:r>
            <a:endParaRPr lang="en-US" sz="1500" dirty="0"/>
          </a:p>
        </p:txBody>
      </p:sp>
      <p:sp>
        <p:nvSpPr>
          <p:cNvPr id="14" name="Text 11"/>
          <p:cNvSpPr txBox="1"/>
          <p:nvPr/>
        </p:nvSpPr>
        <p:spPr>
          <a:xfrm>
            <a:off x="594360" y="4754880"/>
            <a:ext cx="10972800" cy="914400"/>
          </a:xfrm>
          <a:prstGeom prst="rect">
            <a:avLst/>
          </a:prstGeom>
          <a:noFill/>
          <a:ln/>
        </p:spPr>
        <p:txBody>
          <a:bodyPr wrap="square" lIns="0" tIns="0" rIns="0" bIns="0" rtlCol="0" anchor="ctr"/>
          <a:lstStyle/>
          <a:p>
            <a:pPr indent="0" marL="0">
              <a:lnSpc>
                <a:spcPct val="120000"/>
              </a:lnSpc>
              <a:buNone/>
            </a:pPr>
            <a:r>
              <a:rPr lang="en-US" sz="1700" dirty="0">
                <a:solidFill>
                  <a:srgbClr val="5F5878"/>
                </a:solidFill>
                <a:latin typeface="Arial" pitchFamily="34" charset="0"/>
                <a:ea typeface="Arial" pitchFamily="34" charset="-122"/>
                <a:cs typeface="Arial" pitchFamily="34" charset="-120"/>
              </a:rPr>
              <a:t>Install happens through deploy plugins: local (write files, run a reload) and ssh (SFTP + reload).</a:t>
            </a:r>
            <a:endParaRPr lang="en-US" sz="1700" dirty="0"/>
          </a:p>
          <a:p>
            <a:pPr indent="0" marL="0">
              <a:lnSpc>
                <a:spcPct val="120000"/>
              </a:lnSpc>
              <a:buNone/>
            </a:pPr>
            <a:r>
              <a:rPr lang="en-US" sz="1700" dirty="0">
                <a:solidFill>
                  <a:srgbClr val="5F5878"/>
                </a:solidFill>
                <a:latin typeface="Arial" pitchFamily="34" charset="0"/>
                <a:ea typeface="Arial" pitchFamily="34" charset="-122"/>
                <a:cs typeface="Arial" pitchFamily="34" charset="-120"/>
              </a:rPr>
              <a:t>Most network gear is driven over SSH, so a vendor plugin is one class and a list of PluginFields.</a:t>
            </a:r>
            <a:endParaRPr lang="en-US" sz="1700" dirty="0"/>
          </a:p>
        </p:txBody>
      </p:sp>
      <p:sp>
        <p:nvSpPr>
          <p:cNvPr id="15" name="Text 12"/>
          <p:cNvSpPr txBox="1"/>
          <p:nvPr/>
        </p:nvSpPr>
        <p:spPr>
          <a:xfrm>
            <a:off x="594360" y="6144768"/>
            <a:ext cx="11064240" cy="365760"/>
          </a:xfrm>
          <a:prstGeom prst="rect">
            <a:avLst/>
          </a:prstGeom>
          <a:noFill/>
          <a:ln/>
        </p:spPr>
        <p:txBody>
          <a:bodyPr wrap="square" lIns="0" tIns="0" rIns="0" bIns="0" rtlCol="0" anchor="ctr"/>
          <a:lstStyle/>
          <a:p>
            <a:pPr algn="l" indent="0" marL="0">
              <a:buNone/>
            </a:pPr>
            <a:r>
              <a:rPr lang="en-US" sz="1200" dirty="0">
                <a:solidFill>
                  <a:srgbClr val="6B4EF0"/>
                </a:solidFill>
                <a:latin typeface="Courier New" pitchFamily="34" charset="0"/>
                <a:ea typeface="Courier New" pitchFamily="34" charset="-122"/>
                <a:cs typeface="Courier New" pitchFamily="34" charset="-120"/>
              </a:rPr>
              <a:t>ESXi · iDRAC · iLO · switches · printers · NAS · load balancers</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EAEAEA"/>
        </a:solidFill>
      </p:bgPr>
    </p:bg>
    <p:spTree>
      <p:nvGrpSpPr>
        <p:cNvPr id="1" name=""/>
        <p:cNvGrpSpPr/>
        <p:nvPr/>
      </p:nvGrpSpPr>
      <p:grpSpPr>
        <a:xfrm>
          <a:off x="0" y="0"/>
          <a:ext cx="0" cy="0"/>
          <a:chOff x="0" y="0"/>
          <a:chExt cx="0" cy="0"/>
        </a:xfrm>
      </p:grpSpPr>
      <p:sp>
        <p:nvSpPr>
          <p:cNvPr id="3" name="Shape 0"/>
          <p:cNvSpPr/>
          <p:nvPr/>
        </p:nvSpPr>
        <p:spPr>
          <a:xfrm>
            <a:off x="566928" y="384048"/>
            <a:ext cx="566928" cy="566928"/>
          </a:xfrm>
          <a:prstGeom prst="ellipse">
            <a:avLst/>
          </a:prstGeom>
          <a:solidFill>
            <a:srgbClr val="4B18E8"/>
          </a:solidFill>
          <a:ln/>
        </p:spPr>
      </p:sp>
      <p:sp>
        <p:nvSpPr>
          <p:cNvPr id="4" name="Text 1"/>
          <p:cNvSpPr txBox="1"/>
          <p:nvPr/>
        </p:nvSpPr>
        <p:spPr>
          <a:xfrm>
            <a:off x="566928" y="3840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12</a:t>
            </a:r>
            <a:endParaRPr lang="en-US" sz="2000" dirty="0"/>
          </a:p>
        </p:txBody>
      </p:sp>
      <p:sp>
        <p:nvSpPr>
          <p:cNvPr id="5" name="Text 2"/>
          <p:cNvSpPr txBox="1"/>
          <p:nvPr/>
        </p:nvSpPr>
        <p:spPr>
          <a:xfrm>
            <a:off x="1325880" y="329184"/>
            <a:ext cx="10332720" cy="713232"/>
          </a:xfrm>
          <a:prstGeom prst="rect">
            <a:avLst/>
          </a:prstGeom>
          <a:noFill/>
          <a:ln/>
        </p:spPr>
        <p:txBody>
          <a:bodyPr wrap="square" lIns="0" tIns="0" rIns="0" bIns="0" rtlCol="0" anchor="ctr"/>
          <a:lstStyle/>
          <a:p>
            <a:pPr algn="l" indent="0" marL="0">
              <a:buNone/>
            </a:pPr>
            <a:r>
              <a:rPr lang="en-US" sz="3400" b="1" dirty="0">
                <a:solidFill>
                  <a:srgbClr val="1A1533"/>
                </a:solidFill>
                <a:latin typeface="Arial" pitchFamily="34" charset="0"/>
                <a:ea typeface="Arial" pitchFamily="34" charset="-122"/>
                <a:cs typeface="Arial" pitchFamily="34" charset="-120"/>
              </a:rPr>
              <a:t>It comes with a dashboard</a:t>
            </a:r>
            <a:endParaRPr lang="en-US" sz="3400" dirty="0"/>
          </a:p>
        </p:txBody>
      </p:sp>
      <p:sp>
        <p:nvSpPr>
          <p:cNvPr id="6" name="Text 3"/>
          <p:cNvSpPr txBox="1"/>
          <p:nvPr/>
        </p:nvSpPr>
        <p:spPr>
          <a:xfrm>
            <a:off x="658368" y="1417320"/>
            <a:ext cx="4434840" cy="4206240"/>
          </a:xfrm>
          <a:prstGeom prst="rect">
            <a:avLst/>
          </a:prstGeom>
          <a:noFill/>
          <a:ln/>
        </p:spPr>
        <p:txBody>
          <a:bodyPr wrap="square" lIns="0" tIns="0" rIns="0" bIns="0" rtlCol="0" anchor="t"/>
          <a:lstStyle/>
          <a:p>
            <a:pPr indent="0" marL="0">
              <a:lnSpc>
                <a:spcPct val="115000"/>
              </a:lnSpc>
              <a:buNone/>
            </a:pPr>
            <a:r>
              <a:rPr lang="en-US" sz="1900" dirty="0">
                <a:solidFill>
                  <a:srgbClr val="1A1533"/>
                </a:solidFill>
                <a:latin typeface="Arial" pitchFamily="34" charset="0"/>
                <a:ea typeface="Arial" pitchFamily="34" charset="-122"/>
                <a:cs typeface="Arial" pitchFamily="34" charset="-120"/>
              </a:rPr>
              <a:t>Every certificate, every managed host, one page.
</a:t>
            </a:r>
            <a:pPr indent="0" marL="0">
              <a:lnSpc>
                <a:spcPct val="115000"/>
              </a:lnSpc>
              <a:buNone/>
            </a:pPr>
            <a:r>
              <a:rPr lang="en-US" sz="1700" dirty="0">
                <a:solidFill>
                  <a:srgbClr val="5F5878"/>
                </a:solidFill>
                <a:latin typeface="Arial" pitchFamily="34" charset="0"/>
                <a:ea typeface="Arial" pitchFamily="34" charset="-122"/>
                <a:cs typeface="Arial" pitchFamily="34" charset="-120"/>
              </a:rPr>
              <a:t>Live health badges are a raw TLS probe, not a database lookup.
</a:t>
            </a:r>
            <a:pPr indent="0" marL="0">
              <a:lnSpc>
                <a:spcPct val="115000"/>
              </a:lnSpc>
              <a:buNone/>
            </a:pPr>
            <a:r>
              <a:rPr lang="en-US" sz="1700" dirty="0">
                <a:solidFill>
                  <a:srgbClr val="5F5878"/>
                </a:solidFill>
                <a:latin typeface="Arial" pitchFamily="34" charset="0"/>
                <a:ea typeface="Arial" pitchFamily="34" charset="-122"/>
                <a:cs typeface="Arial" pitchFamily="34" charset="-120"/>
              </a:rPr>
              <a:t>Certificates link back to the device they were pushed to, and back again.
</a:t>
            </a:r>
            <a:pPr indent="0" marL="0">
              <a:lnSpc>
                <a:spcPct val="115000"/>
              </a:lnSpc>
              <a:buNone/>
            </a:pPr>
            <a:r>
              <a:rPr lang="en-US" sz="1700" dirty="0">
                <a:solidFill>
                  <a:srgbClr val="5F5878"/>
                </a:solidFill>
                <a:latin typeface="Arial" pitchFamily="34" charset="0"/>
                <a:ea typeface="Arial" pitchFamily="34" charset="-122"/>
                <a:cs typeface="Arial" pitchFamily="34" charset="-120"/>
              </a:rPr>
              <a:t>Expiry warnings, retire-when-done, email + webhook notifications.</a:t>
            </a:r>
            <a:endParaRPr lang="en-US" sz="1900" dirty="0"/>
          </a:p>
        </p:txBody>
      </p:sp>
      <p:sp>
        <p:nvSpPr>
          <p:cNvPr id="7" name="Shape 4"/>
          <p:cNvSpPr/>
          <p:nvPr/>
        </p:nvSpPr>
        <p:spPr>
          <a:xfrm>
            <a:off x="5312664" y="1216152"/>
            <a:ext cx="6345936" cy="4791456"/>
          </a:xfrm>
          <a:prstGeom prst="roundRect">
            <a:avLst>
              <a:gd name="adj" fmla="val 1336"/>
            </a:avLst>
          </a:prstGeom>
          <a:solidFill>
            <a:srgbClr val="FFFFFF"/>
          </a:solidFill>
          <a:ln w="12700">
            <a:solidFill>
              <a:srgbClr val="CFC6EE"/>
            </a:solidFill>
            <a:prstDash val="solid"/>
          </a:ln>
        </p:spPr>
      </p:sp>
      <p:pic>
        <p:nvPicPr>
          <p:cNvPr id="8" name="Image 0" descr="/home/user/acme-lan/talks/pycon-au-2026/img/dashboard-full.png">    </p:cNvPr>
          <p:cNvPicPr>
            <a:picLocks noChangeAspect="1"/>
          </p:cNvPicPr>
          <p:nvPr/>
        </p:nvPicPr>
        <p:blipFill>
          <a:blip r:embed="rId1"/>
          <a:stretch>
            <a:fillRect/>
          </a:stretch>
        </p:blipFill>
        <p:spPr>
          <a:xfrm>
            <a:off x="5394960" y="1298448"/>
            <a:ext cx="6181344" cy="4626864"/>
          </a:xfrm>
          <a:prstGeom prst="rect">
            <a:avLst/>
          </a:prstGeom>
        </p:spPr>
      </p:pic>
      <p:sp>
        <p:nvSpPr>
          <p:cNvPr id="9" name="Text 5"/>
          <p:cNvSpPr txBox="1"/>
          <p:nvPr/>
        </p:nvSpPr>
        <p:spPr>
          <a:xfrm>
            <a:off x="594360" y="6144768"/>
            <a:ext cx="11064240" cy="365760"/>
          </a:xfrm>
          <a:prstGeom prst="rect">
            <a:avLst/>
          </a:prstGeom>
          <a:noFill/>
          <a:ln/>
        </p:spPr>
        <p:txBody>
          <a:bodyPr wrap="square" lIns="0" tIns="0" rIns="0" bIns="0" rtlCol="0" anchor="ctr"/>
          <a:lstStyle/>
          <a:p>
            <a:pPr algn="l" indent="0" marL="0">
              <a:buNone/>
            </a:pPr>
            <a:r>
              <a:rPr lang="en-US" sz="1200" dirty="0">
                <a:solidFill>
                  <a:srgbClr val="6B4EF0"/>
                </a:solidFill>
                <a:latin typeface="Courier New" pitchFamily="34" charset="0"/>
                <a:ea typeface="Courier New" pitchFamily="34" charset="-122"/>
                <a:cs typeface="Courier New" pitchFamily="34" charset="-120"/>
              </a:rPr>
              <a:t># GET /api/certificates · GET /api/hosts · POST /api/health/probe</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EAEAEA"/>
        </a:solidFill>
      </p:bgPr>
    </p:bg>
    <p:spTree>
      <p:nvGrpSpPr>
        <p:cNvPr id="1" name=""/>
        <p:cNvGrpSpPr/>
        <p:nvPr/>
      </p:nvGrpSpPr>
      <p:grpSpPr>
        <a:xfrm>
          <a:off x="0" y="0"/>
          <a:ext cx="0" cy="0"/>
          <a:chOff x="0" y="0"/>
          <a:chExt cx="0" cy="0"/>
        </a:xfrm>
      </p:grpSpPr>
      <p:sp>
        <p:nvSpPr>
          <p:cNvPr id="3" name="Shape 0"/>
          <p:cNvSpPr/>
          <p:nvPr/>
        </p:nvSpPr>
        <p:spPr>
          <a:xfrm>
            <a:off x="566928" y="384048"/>
            <a:ext cx="566928" cy="566928"/>
          </a:xfrm>
          <a:prstGeom prst="ellipse">
            <a:avLst/>
          </a:prstGeom>
          <a:solidFill>
            <a:srgbClr val="4B18E8"/>
          </a:solidFill>
          <a:ln/>
        </p:spPr>
      </p:sp>
      <p:sp>
        <p:nvSpPr>
          <p:cNvPr id="4" name="Text 1"/>
          <p:cNvSpPr txBox="1"/>
          <p:nvPr/>
        </p:nvSpPr>
        <p:spPr>
          <a:xfrm>
            <a:off x="566928" y="3840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13</a:t>
            </a:r>
            <a:endParaRPr lang="en-US" sz="2000" dirty="0"/>
          </a:p>
        </p:txBody>
      </p:sp>
      <p:sp>
        <p:nvSpPr>
          <p:cNvPr id="5" name="Text 2"/>
          <p:cNvSpPr txBox="1"/>
          <p:nvPr/>
        </p:nvSpPr>
        <p:spPr>
          <a:xfrm>
            <a:off x="1325880" y="329184"/>
            <a:ext cx="10332720" cy="713232"/>
          </a:xfrm>
          <a:prstGeom prst="rect">
            <a:avLst/>
          </a:prstGeom>
          <a:noFill/>
          <a:ln/>
        </p:spPr>
        <p:txBody>
          <a:bodyPr wrap="square" lIns="0" tIns="0" rIns="0" bIns="0" rtlCol="0" anchor="ctr"/>
          <a:lstStyle/>
          <a:p>
            <a:pPr algn="l" indent="0" marL="0">
              <a:buNone/>
            </a:pPr>
            <a:r>
              <a:rPr lang="en-US" sz="3400" b="1" dirty="0">
                <a:solidFill>
                  <a:srgbClr val="1A1533"/>
                </a:solidFill>
                <a:latin typeface="Arial" pitchFamily="34" charset="0"/>
                <a:ea typeface="Arial" pitchFamily="34" charset="-122"/>
                <a:cs typeface="Arial" pitchFamily="34" charset="-120"/>
              </a:rPr>
              <a:t>Live health, not a spreadsheet</a:t>
            </a:r>
            <a:endParaRPr lang="en-US" sz="3400" dirty="0"/>
          </a:p>
        </p:txBody>
      </p:sp>
      <p:sp>
        <p:nvSpPr>
          <p:cNvPr id="6" name="Shape 3"/>
          <p:cNvSpPr/>
          <p:nvPr/>
        </p:nvSpPr>
        <p:spPr>
          <a:xfrm>
            <a:off x="557784" y="1152144"/>
            <a:ext cx="11073384" cy="2688336"/>
          </a:xfrm>
          <a:prstGeom prst="roundRect">
            <a:avLst>
              <a:gd name="adj" fmla="val 2381"/>
            </a:avLst>
          </a:prstGeom>
          <a:solidFill>
            <a:srgbClr val="FFFFFF"/>
          </a:solidFill>
          <a:ln w="12700">
            <a:solidFill>
              <a:srgbClr val="CFC6EE"/>
            </a:solidFill>
            <a:prstDash val="solid"/>
          </a:ln>
        </p:spPr>
      </p:sp>
      <p:pic>
        <p:nvPicPr>
          <p:cNvPr id="7" name="Image 0" descr="/home/user/acme-lan/talks/pycon-au-2026/img/certs-table.png">    </p:cNvPr>
          <p:cNvPicPr>
            <a:picLocks noChangeAspect="1"/>
          </p:cNvPicPr>
          <p:nvPr/>
        </p:nvPicPr>
        <p:blipFill>
          <a:blip r:embed="rId1"/>
          <a:stretch>
            <a:fillRect/>
          </a:stretch>
        </p:blipFill>
        <p:spPr>
          <a:xfrm>
            <a:off x="640080" y="1234440"/>
            <a:ext cx="10908792" cy="2523744"/>
          </a:xfrm>
          <a:prstGeom prst="rect">
            <a:avLst/>
          </a:prstGeom>
        </p:spPr>
      </p:pic>
      <p:sp>
        <p:nvSpPr>
          <p:cNvPr id="8" name="Shape 4"/>
          <p:cNvSpPr/>
          <p:nvPr/>
        </p:nvSpPr>
        <p:spPr>
          <a:xfrm>
            <a:off x="557784" y="3941064"/>
            <a:ext cx="5193792" cy="2331720"/>
          </a:xfrm>
          <a:prstGeom prst="roundRect">
            <a:avLst>
              <a:gd name="adj" fmla="val 2745"/>
            </a:avLst>
          </a:prstGeom>
          <a:solidFill>
            <a:srgbClr val="FFFFFF"/>
          </a:solidFill>
          <a:ln w="12700">
            <a:solidFill>
              <a:srgbClr val="CFC6EE"/>
            </a:solidFill>
            <a:prstDash val="solid"/>
          </a:ln>
        </p:spPr>
      </p:sp>
      <p:pic>
        <p:nvPicPr>
          <p:cNvPr id="9" name="Image 1" descr="/home/user/acme-lan/talks/pycon-au-2026/img/probe.png">    </p:cNvPr>
          <p:cNvPicPr>
            <a:picLocks noChangeAspect="1"/>
          </p:cNvPicPr>
          <p:nvPr/>
        </p:nvPicPr>
        <p:blipFill>
          <a:blip r:embed="rId2"/>
          <a:stretch>
            <a:fillRect/>
          </a:stretch>
        </p:blipFill>
        <p:spPr>
          <a:xfrm>
            <a:off x="640080" y="4023360"/>
            <a:ext cx="5029200" cy="2167128"/>
          </a:xfrm>
          <a:prstGeom prst="rect">
            <a:avLst/>
          </a:prstGeom>
        </p:spPr>
      </p:pic>
      <p:sp>
        <p:nvSpPr>
          <p:cNvPr id="10" name="Text 5"/>
          <p:cNvSpPr txBox="1"/>
          <p:nvPr/>
        </p:nvSpPr>
        <p:spPr>
          <a:xfrm>
            <a:off x="5989320" y="4041648"/>
            <a:ext cx="5623560" cy="2148840"/>
          </a:xfrm>
          <a:prstGeom prst="rect">
            <a:avLst/>
          </a:prstGeom>
          <a:noFill/>
          <a:ln/>
        </p:spPr>
        <p:txBody>
          <a:bodyPr wrap="square" lIns="0" tIns="0" rIns="0" bIns="0" rtlCol="0" anchor="t"/>
          <a:lstStyle/>
          <a:p>
            <a:pPr indent="0" marL="0">
              <a:lnSpc>
                <a:spcPct val="115000"/>
              </a:lnSpc>
              <a:buNone/>
            </a:pPr>
            <a:r>
              <a:rPr lang="en-US" sz="2400" b="1" dirty="0">
                <a:solidFill>
                  <a:srgbClr val="4B18E8"/>
                </a:solidFill>
                <a:latin typeface="Arial" pitchFamily="34" charset="0"/>
                <a:ea typeface="Arial" pitchFamily="34" charset="-122"/>
                <a:cs typeface="Arial" pitchFamily="34" charset="-120"/>
              </a:rPr>
              <a:t>A raw TLS handshake.
</a:t>
            </a:r>
            <a:pPr indent="0" marL="0">
              <a:lnSpc>
                <a:spcPct val="115000"/>
              </a:lnSpc>
              <a:buNone/>
            </a:pPr>
            <a:r>
              <a:rPr lang="en-US" sz="1700" dirty="0">
                <a:solidFill>
                  <a:srgbClr val="1A1533"/>
                </a:solidFill>
                <a:latin typeface="Arial" pitchFamily="34" charset="0"/>
                <a:ea typeface="Arial" pitchFamily="34" charset="-122"/>
                <a:cs typeface="Arial" pitchFamily="34" charset="-120"/>
              </a:rPr>
              <a:t>Not an HTTP request that assumes port 443 speaks HTTP.
</a:t>
            </a:r>
            <a:pPr indent="0" marL="0">
              <a:lnSpc>
                <a:spcPct val="115000"/>
              </a:lnSpc>
              <a:buNone/>
            </a:pPr>
            <a:r>
              <a:rPr lang="en-US" sz="1600" dirty="0">
                <a:solidFill>
                  <a:srgbClr val="5F5878"/>
                </a:solidFill>
                <a:latin typeface="Arial" pitchFamily="34" charset="0"/>
                <a:ea typeface="Arial" pitchFamily="34" charset="-122"/>
                <a:cs typeface="Arial" pitchFamily="34" charset="-120"/>
              </a:rPr>
              <a:t>LDAPS. SMTPS. That one appliance on 8443. Anything that completes a handshake gets an honest answer: expiry, chain trust, SAN match, self-signed.</a:t>
            </a:r>
            <a:endParaRPr lang="en-US" sz="2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EAEAEA"/>
        </a:solidFill>
      </p:bgPr>
    </p:bg>
    <p:spTree>
      <p:nvGrpSpPr>
        <p:cNvPr id="1" name=""/>
        <p:cNvGrpSpPr/>
        <p:nvPr/>
      </p:nvGrpSpPr>
      <p:grpSpPr>
        <a:xfrm>
          <a:off x="0" y="0"/>
          <a:ext cx="0" cy="0"/>
          <a:chOff x="0" y="0"/>
          <a:chExt cx="0" cy="0"/>
        </a:xfrm>
      </p:grpSpPr>
      <p:sp>
        <p:nvSpPr>
          <p:cNvPr id="3" name="Shape 0"/>
          <p:cNvSpPr/>
          <p:nvPr/>
        </p:nvSpPr>
        <p:spPr>
          <a:xfrm>
            <a:off x="566928" y="384048"/>
            <a:ext cx="566928" cy="566928"/>
          </a:xfrm>
          <a:prstGeom prst="ellipse">
            <a:avLst/>
          </a:prstGeom>
          <a:solidFill>
            <a:srgbClr val="4B18E8"/>
          </a:solidFill>
          <a:ln/>
        </p:spPr>
      </p:sp>
      <p:sp>
        <p:nvSpPr>
          <p:cNvPr id="4" name="Text 1"/>
          <p:cNvSpPr txBox="1"/>
          <p:nvPr/>
        </p:nvSpPr>
        <p:spPr>
          <a:xfrm>
            <a:off x="566928" y="3840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14</a:t>
            </a:r>
            <a:endParaRPr lang="en-US" sz="2000" dirty="0"/>
          </a:p>
        </p:txBody>
      </p:sp>
      <p:sp>
        <p:nvSpPr>
          <p:cNvPr id="5" name="Text 2"/>
          <p:cNvSpPr txBox="1"/>
          <p:nvPr/>
        </p:nvSpPr>
        <p:spPr>
          <a:xfrm>
            <a:off x="1325880" y="329184"/>
            <a:ext cx="10332720" cy="713232"/>
          </a:xfrm>
          <a:prstGeom prst="rect">
            <a:avLst/>
          </a:prstGeom>
          <a:noFill/>
          <a:ln/>
        </p:spPr>
        <p:txBody>
          <a:bodyPr wrap="square" lIns="0" tIns="0" rIns="0" bIns="0" rtlCol="0" anchor="ctr"/>
          <a:lstStyle/>
          <a:p>
            <a:pPr algn="l" indent="0" marL="0">
              <a:buNone/>
            </a:pPr>
            <a:r>
              <a:rPr lang="en-US" sz="3400" b="1" dirty="0">
                <a:solidFill>
                  <a:srgbClr val="1A1533"/>
                </a:solidFill>
                <a:latin typeface="Arial" pitchFamily="34" charset="0"/>
                <a:ea typeface="Arial" pitchFamily="34" charset="-122"/>
                <a:cs typeface="Arial" pitchFamily="34" charset="-120"/>
              </a:rPr>
              <a:t>Adding a device shouldn’t be a JSON blob</a:t>
            </a:r>
            <a:endParaRPr lang="en-US" sz="3400" dirty="0"/>
          </a:p>
        </p:txBody>
      </p:sp>
      <p:sp>
        <p:nvSpPr>
          <p:cNvPr id="6" name="Text 3"/>
          <p:cNvSpPr txBox="1"/>
          <p:nvPr/>
        </p:nvSpPr>
        <p:spPr>
          <a:xfrm>
            <a:off x="658368" y="1417320"/>
            <a:ext cx="4069080" cy="4206240"/>
          </a:xfrm>
          <a:prstGeom prst="rect">
            <a:avLst/>
          </a:prstGeom>
          <a:noFill/>
          <a:ln/>
        </p:spPr>
        <p:txBody>
          <a:bodyPr wrap="square" lIns="0" tIns="0" rIns="0" bIns="0" rtlCol="0" anchor="t"/>
          <a:lstStyle/>
          <a:p>
            <a:pPr indent="0" marL="0">
              <a:lnSpc>
                <a:spcPct val="115000"/>
              </a:lnSpc>
              <a:buNone/>
            </a:pPr>
            <a:r>
              <a:rPr lang="en-US" sz="2100" b="1" dirty="0">
                <a:solidFill>
                  <a:srgbClr val="4B18E8"/>
                </a:solidFill>
                <a:latin typeface="Arial" pitchFamily="34" charset="0"/>
                <a:ea typeface="Arial" pitchFamily="34" charset="-122"/>
                <a:cs typeface="Arial" pitchFamily="34" charset="-120"/>
              </a:rPr>
              <a:t>Plugins declare their own config.
</a:t>
            </a:r>
            <a:pPr indent="0" marL="0">
              <a:lnSpc>
                <a:spcPct val="115000"/>
              </a:lnSpc>
              <a:buNone/>
            </a:pPr>
            <a:r>
              <a:rPr lang="en-US" sz="1400" dirty="0">
                <a:solidFill>
                  <a:srgbClr val="2E0C93"/>
                </a:solidFill>
                <a:latin typeface="Courier New" pitchFamily="34" charset="0"/>
                <a:ea typeface="Courier New" pitchFamily="34" charset="-122"/>
                <a:cs typeface="Courier New" pitchFamily="34" charset="-120"/>
              </a:rPr>
              <a:t>fields: ClassVar[list[PluginField]]
</a:t>
            </a:r>
            <a:pPr indent="0" marL="0">
              <a:lnSpc>
                <a:spcPct val="115000"/>
              </a:lnSpc>
              <a:buNone/>
            </a:pPr>
            <a:r>
              <a:rPr lang="en-US" sz="1600" dirty="0">
                <a:solidFill>
                  <a:srgbClr val="5F5878"/>
                </a:solidFill>
                <a:latin typeface="Arial" pitchFamily="34" charset="0"/>
                <a:ea typeface="Arial" pitchFamily="34" charset="-122"/>
                <a:cs typeface="Arial" pitchFamily="34" charset="-120"/>
              </a:rPr>
              <a:t>The dashboard reads them from the API and renders the real form — filtered by the plugin you picked and the CSR mode you chose.
</a:t>
            </a:r>
            <a:pPr indent="0" marL="0">
              <a:lnSpc>
                <a:spcPct val="115000"/>
              </a:lnSpc>
              <a:buNone/>
            </a:pPr>
            <a:r>
              <a:rPr lang="en-US" sz="1700" dirty="0">
                <a:solidFill>
                  <a:srgbClr val="1A1533"/>
                </a:solidFill>
                <a:latin typeface="Arial" pitchFamily="34" charset="0"/>
                <a:ea typeface="Arial" pitchFamily="34" charset="-122"/>
                <a:cs typeface="Arial" pitchFamily="34" charset="-120"/>
              </a:rPr>
              <a:t>Write a plugin, get a UI. No frontend involved.</a:t>
            </a:r>
            <a:endParaRPr lang="en-US" sz="2100" dirty="0"/>
          </a:p>
        </p:txBody>
      </p:sp>
      <p:sp>
        <p:nvSpPr>
          <p:cNvPr id="7" name="Shape 4"/>
          <p:cNvSpPr/>
          <p:nvPr/>
        </p:nvSpPr>
        <p:spPr>
          <a:xfrm>
            <a:off x="4965192" y="1152144"/>
            <a:ext cx="6748272" cy="4791456"/>
          </a:xfrm>
          <a:prstGeom prst="roundRect">
            <a:avLst>
              <a:gd name="adj" fmla="val 1336"/>
            </a:avLst>
          </a:prstGeom>
          <a:solidFill>
            <a:srgbClr val="FFFFFF"/>
          </a:solidFill>
          <a:ln w="12700">
            <a:solidFill>
              <a:srgbClr val="CFC6EE"/>
            </a:solidFill>
            <a:prstDash val="solid"/>
          </a:ln>
        </p:spPr>
      </p:sp>
      <p:pic>
        <p:nvPicPr>
          <p:cNvPr id="8" name="Image 0" descr="/home/user/acme-lan/talks/pycon-au-2026/img/add-host-modal.png">    </p:cNvPr>
          <p:cNvPicPr>
            <a:picLocks noChangeAspect="1"/>
          </p:cNvPicPr>
          <p:nvPr/>
        </p:nvPicPr>
        <p:blipFill>
          <a:blip r:embed="rId1"/>
          <a:stretch>
            <a:fillRect/>
          </a:stretch>
        </p:blipFill>
        <p:spPr>
          <a:xfrm>
            <a:off x="5047488" y="1234440"/>
            <a:ext cx="6583680" cy="4626864"/>
          </a:xfrm>
          <a:prstGeom prst="rect">
            <a:avLst/>
          </a:prstGeom>
        </p:spPr>
      </p:pic>
      <p:sp>
        <p:nvSpPr>
          <p:cNvPr id="9" name="Text 5"/>
          <p:cNvSpPr txBox="1"/>
          <p:nvPr/>
        </p:nvSpPr>
        <p:spPr>
          <a:xfrm>
            <a:off x="594360" y="6144768"/>
            <a:ext cx="11064240" cy="365760"/>
          </a:xfrm>
          <a:prstGeom prst="rect">
            <a:avLst/>
          </a:prstGeom>
          <a:noFill/>
          <a:ln/>
        </p:spPr>
        <p:txBody>
          <a:bodyPr wrap="square" lIns="0" tIns="0" rIns="0" bIns="0" rtlCol="0" anchor="ctr"/>
          <a:lstStyle/>
          <a:p>
            <a:pPr algn="l" indent="0" marL="0">
              <a:buNone/>
            </a:pPr>
            <a:r>
              <a:rPr lang="en-US" sz="1200" dirty="0">
                <a:solidFill>
                  <a:srgbClr val="6B4EF0"/>
                </a:solidFill>
                <a:latin typeface="Courier New" pitchFamily="34" charset="0"/>
                <a:ea typeface="Courier New" pitchFamily="34" charset="-122"/>
                <a:cs typeface="Courier New" pitchFamily="34" charset="-120"/>
              </a:rPr>
              <a:t># GET /api/deploy-plugins -&gt; the form builds itself</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EAEAEA"/>
        </a:solidFill>
      </p:bgPr>
    </p:bg>
    <p:spTree>
      <p:nvGrpSpPr>
        <p:cNvPr id="1" name=""/>
        <p:cNvGrpSpPr/>
        <p:nvPr/>
      </p:nvGrpSpPr>
      <p:grpSpPr>
        <a:xfrm>
          <a:off x="0" y="0"/>
          <a:ext cx="0" cy="0"/>
          <a:chOff x="0" y="0"/>
          <a:chExt cx="0" cy="0"/>
        </a:xfrm>
      </p:grpSpPr>
      <p:sp>
        <p:nvSpPr>
          <p:cNvPr id="3" name="Shape 0"/>
          <p:cNvSpPr/>
          <p:nvPr/>
        </p:nvSpPr>
        <p:spPr>
          <a:xfrm>
            <a:off x="566928" y="384048"/>
            <a:ext cx="566928" cy="566928"/>
          </a:xfrm>
          <a:prstGeom prst="ellipse">
            <a:avLst/>
          </a:prstGeom>
          <a:solidFill>
            <a:srgbClr val="4B18E8"/>
          </a:solidFill>
          <a:ln/>
        </p:spPr>
      </p:sp>
      <p:sp>
        <p:nvSpPr>
          <p:cNvPr id="4" name="Text 1"/>
          <p:cNvSpPr txBox="1"/>
          <p:nvPr/>
        </p:nvSpPr>
        <p:spPr>
          <a:xfrm>
            <a:off x="566928" y="3840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15</a:t>
            </a:r>
            <a:endParaRPr lang="en-US" sz="2000" dirty="0"/>
          </a:p>
        </p:txBody>
      </p:sp>
      <p:sp>
        <p:nvSpPr>
          <p:cNvPr id="5" name="Text 2"/>
          <p:cNvSpPr txBox="1"/>
          <p:nvPr/>
        </p:nvSpPr>
        <p:spPr>
          <a:xfrm>
            <a:off x="1325880" y="329184"/>
            <a:ext cx="10332720" cy="713232"/>
          </a:xfrm>
          <a:prstGeom prst="rect">
            <a:avLst/>
          </a:prstGeom>
          <a:noFill/>
          <a:ln/>
        </p:spPr>
        <p:txBody>
          <a:bodyPr wrap="square" lIns="0" tIns="0" rIns="0" bIns="0" rtlCol="0" anchor="ctr"/>
          <a:lstStyle/>
          <a:p>
            <a:pPr algn="l" indent="0" marL="0">
              <a:buNone/>
            </a:pPr>
            <a:r>
              <a:rPr lang="en-US" sz="3400" b="1" dirty="0">
                <a:solidFill>
                  <a:srgbClr val="1A1533"/>
                </a:solidFill>
                <a:latin typeface="Arial" pitchFamily="34" charset="0"/>
                <a:ea typeface="Arial" pitchFamily="34" charset="-122"/>
                <a:cs typeface="Arial" pitchFamily="34" charset="-120"/>
              </a:rPr>
              <a:t>Should you use this? Probably not.</a:t>
            </a:r>
            <a:endParaRPr lang="en-US" sz="3400" dirty="0"/>
          </a:p>
        </p:txBody>
      </p:sp>
      <p:sp>
        <p:nvSpPr>
          <p:cNvPr id="6" name="Shape 3"/>
          <p:cNvSpPr/>
          <p:nvPr/>
        </p:nvSpPr>
        <p:spPr>
          <a:xfrm>
            <a:off x="594360" y="1371600"/>
            <a:ext cx="11000232" cy="786384"/>
          </a:xfrm>
          <a:prstGeom prst="roundRect">
            <a:avLst>
              <a:gd name="adj" fmla="val 8140"/>
            </a:avLst>
          </a:prstGeom>
          <a:solidFill>
            <a:srgbClr val="FFFFFF"/>
          </a:solidFill>
          <a:ln w="12700">
            <a:solidFill>
              <a:srgbClr val="EDE8FD"/>
            </a:solidFill>
            <a:prstDash val="solid"/>
          </a:ln>
        </p:spPr>
      </p:sp>
      <p:sp>
        <p:nvSpPr>
          <p:cNvPr id="7" name="Text 4"/>
          <p:cNvSpPr txBox="1"/>
          <p:nvPr/>
        </p:nvSpPr>
        <p:spPr>
          <a:xfrm>
            <a:off x="868680" y="1371600"/>
            <a:ext cx="5486400" cy="786384"/>
          </a:xfrm>
          <a:prstGeom prst="rect">
            <a:avLst/>
          </a:prstGeom>
          <a:noFill/>
          <a:ln/>
        </p:spPr>
        <p:txBody>
          <a:bodyPr wrap="square" lIns="0" tIns="0" rIns="0" bIns="0" rtlCol="0" anchor="ctr"/>
          <a:lstStyle/>
          <a:p>
            <a:pPr indent="0" marL="0">
              <a:buNone/>
            </a:pPr>
            <a:r>
              <a:rPr lang="en-US" sz="1500" dirty="0">
                <a:solidFill>
                  <a:srgbClr val="5F5878"/>
                </a:solidFill>
                <a:latin typeface="Arial" pitchFamily="34" charset="0"/>
                <a:ea typeface="Arial" pitchFamily="34" charset="-122"/>
                <a:cs typeface="Arial" pitchFamily="34" charset="-120"/>
              </a:rPr>
              <a:t>Hosts reach the internet and can hold DNS creds</a:t>
            </a:r>
            <a:endParaRPr lang="en-US" sz="1500" dirty="0"/>
          </a:p>
        </p:txBody>
      </p:sp>
      <p:sp>
        <p:nvSpPr>
          <p:cNvPr id="8" name="Text 5"/>
          <p:cNvSpPr txBox="1"/>
          <p:nvPr/>
        </p:nvSpPr>
        <p:spPr>
          <a:xfrm>
            <a:off x="6537960" y="1371600"/>
            <a:ext cx="4892040" cy="786384"/>
          </a:xfrm>
          <a:prstGeom prst="rect">
            <a:avLst/>
          </a:prstGeom>
          <a:noFill/>
          <a:ln/>
        </p:spPr>
        <p:txBody>
          <a:bodyPr wrap="square" lIns="0" tIns="0" rIns="0" bIns="0" rtlCol="0" anchor="ctr"/>
          <a:lstStyle/>
          <a:p>
            <a:pPr indent="0" marL="0">
              <a:buNone/>
            </a:pPr>
            <a:r>
              <a:rPr lang="en-US" sz="1600" b="1" dirty="0">
                <a:solidFill>
                  <a:srgbClr val="1A1533"/>
                </a:solidFill>
                <a:latin typeface="Arial" pitchFamily="34" charset="0"/>
                <a:ea typeface="Arial" pitchFamily="34" charset="-122"/>
                <a:cs typeface="Arial" pitchFamily="34" charset="-120"/>
              </a:rPr>
              <a:t>certbot + a DNS plugin. Go home.</a:t>
            </a:r>
            <a:endParaRPr lang="en-US" sz="1600" dirty="0"/>
          </a:p>
        </p:txBody>
      </p:sp>
      <p:sp>
        <p:nvSpPr>
          <p:cNvPr id="9" name="Shape 6"/>
          <p:cNvSpPr/>
          <p:nvPr/>
        </p:nvSpPr>
        <p:spPr>
          <a:xfrm>
            <a:off x="594360" y="2304288"/>
            <a:ext cx="11000232" cy="786384"/>
          </a:xfrm>
          <a:prstGeom prst="roundRect">
            <a:avLst>
              <a:gd name="adj" fmla="val 8140"/>
            </a:avLst>
          </a:prstGeom>
          <a:solidFill>
            <a:srgbClr val="FFFFFF"/>
          </a:solidFill>
          <a:ln w="12700">
            <a:solidFill>
              <a:srgbClr val="EDE8FD"/>
            </a:solidFill>
            <a:prstDash val="solid"/>
          </a:ln>
        </p:spPr>
      </p:sp>
      <p:sp>
        <p:nvSpPr>
          <p:cNvPr id="10" name="Text 7"/>
          <p:cNvSpPr txBox="1"/>
          <p:nvPr/>
        </p:nvSpPr>
        <p:spPr>
          <a:xfrm>
            <a:off x="868680" y="2304288"/>
            <a:ext cx="5486400" cy="786384"/>
          </a:xfrm>
          <a:prstGeom prst="rect">
            <a:avLst/>
          </a:prstGeom>
          <a:noFill/>
          <a:ln/>
        </p:spPr>
        <p:txBody>
          <a:bodyPr wrap="square" lIns="0" tIns="0" rIns="0" bIns="0" rtlCol="0" anchor="ctr"/>
          <a:lstStyle/>
          <a:p>
            <a:pPr indent="0" marL="0">
              <a:buNone/>
            </a:pPr>
            <a:r>
              <a:rPr lang="en-US" sz="1500" dirty="0">
                <a:solidFill>
                  <a:srgbClr val="5F5878"/>
                </a:solidFill>
                <a:latin typeface="Arial" pitchFamily="34" charset="0"/>
                <a:ea typeface="Arial" pitchFamily="34" charset="-122"/>
                <a:cs typeface="Arial" pitchFamily="34" charset="-120"/>
              </a:rPr>
              <a:t>Happy to run a private CA and push a root everywhere</a:t>
            </a:r>
            <a:endParaRPr lang="en-US" sz="1500" dirty="0"/>
          </a:p>
        </p:txBody>
      </p:sp>
      <p:sp>
        <p:nvSpPr>
          <p:cNvPr id="11" name="Text 8"/>
          <p:cNvSpPr txBox="1"/>
          <p:nvPr/>
        </p:nvSpPr>
        <p:spPr>
          <a:xfrm>
            <a:off x="6537960" y="2304288"/>
            <a:ext cx="4892040" cy="786384"/>
          </a:xfrm>
          <a:prstGeom prst="rect">
            <a:avLst/>
          </a:prstGeom>
          <a:noFill/>
          <a:ln/>
        </p:spPr>
        <p:txBody>
          <a:bodyPr wrap="square" lIns="0" tIns="0" rIns="0" bIns="0" rtlCol="0" anchor="ctr"/>
          <a:lstStyle/>
          <a:p>
            <a:pPr indent="0" marL="0">
              <a:buNone/>
            </a:pPr>
            <a:r>
              <a:rPr lang="en-US" sz="1600" b="1" dirty="0">
                <a:solidFill>
                  <a:srgbClr val="1A1533"/>
                </a:solidFill>
                <a:latin typeface="Arial" pitchFamily="34" charset="0"/>
                <a:ea typeface="Arial" pitchFamily="34" charset="-122"/>
                <a:cs typeface="Arial" pitchFamily="34" charset="-120"/>
              </a:rPr>
              <a:t>step-ca / smallstep. Genuinely excellent.</a:t>
            </a:r>
            <a:endParaRPr lang="en-US" sz="1600" dirty="0"/>
          </a:p>
        </p:txBody>
      </p:sp>
      <p:sp>
        <p:nvSpPr>
          <p:cNvPr id="12" name="Shape 9"/>
          <p:cNvSpPr/>
          <p:nvPr/>
        </p:nvSpPr>
        <p:spPr>
          <a:xfrm>
            <a:off x="594360" y="3236976"/>
            <a:ext cx="11000232" cy="786384"/>
          </a:xfrm>
          <a:prstGeom prst="roundRect">
            <a:avLst>
              <a:gd name="adj" fmla="val 8140"/>
            </a:avLst>
          </a:prstGeom>
          <a:solidFill>
            <a:srgbClr val="FFFFFF"/>
          </a:solidFill>
          <a:ln w="12700">
            <a:solidFill>
              <a:srgbClr val="EDE8FD"/>
            </a:solidFill>
            <a:prstDash val="solid"/>
          </a:ln>
        </p:spPr>
      </p:sp>
      <p:sp>
        <p:nvSpPr>
          <p:cNvPr id="13" name="Text 10"/>
          <p:cNvSpPr txBox="1"/>
          <p:nvPr/>
        </p:nvSpPr>
        <p:spPr>
          <a:xfrm>
            <a:off x="868680" y="3236976"/>
            <a:ext cx="5486400" cy="786384"/>
          </a:xfrm>
          <a:prstGeom prst="rect">
            <a:avLst/>
          </a:prstGeom>
          <a:noFill/>
          <a:ln/>
        </p:spPr>
        <p:txBody>
          <a:bodyPr wrap="square" lIns="0" tIns="0" rIns="0" bIns="0" rtlCol="0" anchor="ctr"/>
          <a:lstStyle/>
          <a:p>
            <a:pPr indent="0" marL="0">
              <a:buNone/>
            </a:pPr>
            <a:r>
              <a:rPr lang="en-US" sz="1500" dirty="0">
                <a:solidFill>
                  <a:srgbClr val="5F5878"/>
                </a:solidFill>
                <a:latin typeface="Arial" pitchFamily="34" charset="0"/>
                <a:ea typeface="Arial" pitchFamily="34" charset="-122"/>
                <a:cs typeface="Arial" pitchFamily="34" charset="-120"/>
              </a:rPr>
              <a:t>Every client can speak acme-dns natively</a:t>
            </a:r>
            <a:endParaRPr lang="en-US" sz="1500" dirty="0"/>
          </a:p>
        </p:txBody>
      </p:sp>
      <p:sp>
        <p:nvSpPr>
          <p:cNvPr id="14" name="Text 11"/>
          <p:cNvSpPr txBox="1"/>
          <p:nvPr/>
        </p:nvSpPr>
        <p:spPr>
          <a:xfrm>
            <a:off x="6537960" y="3236976"/>
            <a:ext cx="4892040" cy="786384"/>
          </a:xfrm>
          <a:prstGeom prst="rect">
            <a:avLst/>
          </a:prstGeom>
          <a:noFill/>
          <a:ln/>
        </p:spPr>
        <p:txBody>
          <a:bodyPr wrap="square" lIns="0" tIns="0" rIns="0" bIns="0" rtlCol="0" anchor="ctr"/>
          <a:lstStyle/>
          <a:p>
            <a:pPr indent="0" marL="0">
              <a:buNone/>
            </a:pPr>
            <a:r>
              <a:rPr lang="en-US" sz="1600" b="1" dirty="0">
                <a:solidFill>
                  <a:srgbClr val="1A1533"/>
                </a:solidFill>
                <a:latin typeface="Arial" pitchFamily="34" charset="0"/>
                <a:ea typeface="Arial" pitchFamily="34" charset="-122"/>
                <a:cs typeface="Arial" pitchFamily="34" charset="-120"/>
              </a:rPr>
              <a:t>acme-dns on its own — if you like running authoritative DNS.</a:t>
            </a:r>
            <a:endParaRPr lang="en-US" sz="1600" dirty="0"/>
          </a:p>
        </p:txBody>
      </p:sp>
      <p:sp>
        <p:nvSpPr>
          <p:cNvPr id="15" name="Shape 12"/>
          <p:cNvSpPr/>
          <p:nvPr/>
        </p:nvSpPr>
        <p:spPr>
          <a:xfrm>
            <a:off x="594360" y="4169664"/>
            <a:ext cx="11000232" cy="786384"/>
          </a:xfrm>
          <a:prstGeom prst="roundRect">
            <a:avLst>
              <a:gd name="adj" fmla="val 8140"/>
            </a:avLst>
          </a:prstGeom>
          <a:solidFill>
            <a:srgbClr val="FFFFFF"/>
          </a:solidFill>
          <a:ln w="12700">
            <a:solidFill>
              <a:srgbClr val="EDE8FD"/>
            </a:solidFill>
            <a:prstDash val="solid"/>
          </a:ln>
        </p:spPr>
      </p:sp>
      <p:sp>
        <p:nvSpPr>
          <p:cNvPr id="16" name="Text 13"/>
          <p:cNvSpPr txBox="1"/>
          <p:nvPr/>
        </p:nvSpPr>
        <p:spPr>
          <a:xfrm>
            <a:off x="868680" y="4169664"/>
            <a:ext cx="5486400" cy="786384"/>
          </a:xfrm>
          <a:prstGeom prst="rect">
            <a:avLst/>
          </a:prstGeom>
          <a:noFill/>
          <a:ln/>
        </p:spPr>
        <p:txBody>
          <a:bodyPr wrap="square" lIns="0" tIns="0" rIns="0" bIns="0" rtlCol="0" anchor="ctr"/>
          <a:lstStyle/>
          <a:p>
            <a:pPr indent="0" marL="0">
              <a:buNone/>
            </a:pPr>
            <a:r>
              <a:rPr lang="en-US" sz="1500" dirty="0">
                <a:solidFill>
                  <a:srgbClr val="5F5878"/>
                </a:solidFill>
                <a:latin typeface="Arial" pitchFamily="34" charset="0"/>
                <a:ea typeface="Arial" pitchFamily="34" charset="-122"/>
                <a:cs typeface="Arial" pitchFamily="34" charset="-120"/>
              </a:rPr>
              <a:t>One reverse proxy fronts everything you own</a:t>
            </a:r>
            <a:endParaRPr lang="en-US" sz="1500" dirty="0"/>
          </a:p>
        </p:txBody>
      </p:sp>
      <p:sp>
        <p:nvSpPr>
          <p:cNvPr id="17" name="Text 14"/>
          <p:cNvSpPr txBox="1"/>
          <p:nvPr/>
        </p:nvSpPr>
        <p:spPr>
          <a:xfrm>
            <a:off x="6537960" y="4169664"/>
            <a:ext cx="4892040" cy="786384"/>
          </a:xfrm>
          <a:prstGeom prst="rect">
            <a:avLst/>
          </a:prstGeom>
          <a:noFill/>
          <a:ln/>
        </p:spPr>
        <p:txBody>
          <a:bodyPr wrap="square" lIns="0" tIns="0" rIns="0" bIns="0" rtlCol="0" anchor="ctr"/>
          <a:lstStyle/>
          <a:p>
            <a:pPr indent="0" marL="0">
              <a:buNone/>
            </a:pPr>
            <a:r>
              <a:rPr lang="en-US" sz="1600" b="1" dirty="0">
                <a:solidFill>
                  <a:srgbClr val="1A1533"/>
                </a:solidFill>
                <a:latin typeface="Arial" pitchFamily="34" charset="0"/>
                <a:ea typeface="Arial" pitchFamily="34" charset="-122"/>
                <a:cs typeface="Arial" pitchFamily="34" charset="-120"/>
              </a:rPr>
              <a:t>Caddy or Traefik. Two lines of config.</a:t>
            </a:r>
            <a:endParaRPr lang="en-US" sz="1600" dirty="0"/>
          </a:p>
        </p:txBody>
      </p:sp>
      <p:sp>
        <p:nvSpPr>
          <p:cNvPr id="18" name="Shape 15"/>
          <p:cNvSpPr/>
          <p:nvPr/>
        </p:nvSpPr>
        <p:spPr>
          <a:xfrm>
            <a:off x="594360" y="5102352"/>
            <a:ext cx="11000232" cy="786384"/>
          </a:xfrm>
          <a:prstGeom prst="roundRect">
            <a:avLst>
              <a:gd name="adj" fmla="val 8140"/>
            </a:avLst>
          </a:prstGeom>
          <a:solidFill>
            <a:srgbClr val="EDE8FD"/>
          </a:solidFill>
          <a:ln w="25400">
            <a:solidFill>
              <a:srgbClr val="4B18E8"/>
            </a:solidFill>
            <a:prstDash val="solid"/>
          </a:ln>
        </p:spPr>
      </p:sp>
      <p:sp>
        <p:nvSpPr>
          <p:cNvPr id="19" name="Text 16"/>
          <p:cNvSpPr txBox="1"/>
          <p:nvPr/>
        </p:nvSpPr>
        <p:spPr>
          <a:xfrm>
            <a:off x="868680" y="5102352"/>
            <a:ext cx="5486400" cy="786384"/>
          </a:xfrm>
          <a:prstGeom prst="rect">
            <a:avLst/>
          </a:prstGeom>
          <a:noFill/>
          <a:ln/>
        </p:spPr>
        <p:txBody>
          <a:bodyPr wrap="square" lIns="0" tIns="0" rIns="0" bIns="0" rtlCol="0" anchor="ctr"/>
          <a:lstStyle/>
          <a:p>
            <a:pPr indent="0" marL="0">
              <a:buNone/>
            </a:pPr>
            <a:r>
              <a:rPr lang="en-US" sz="1500" dirty="0">
                <a:solidFill>
                  <a:srgbClr val="1A1533"/>
                </a:solidFill>
                <a:latin typeface="Arial" pitchFamily="34" charset="0"/>
                <a:ea typeface="Arial" pitchFamily="34" charset="-122"/>
                <a:cs typeface="Arial" pitchFamily="34" charset="-120"/>
              </a:rPr>
              <a:t>Appliances that can’t run ACME, split-horizon names, one place to see it all</a:t>
            </a:r>
            <a:endParaRPr lang="en-US" sz="1500" dirty="0"/>
          </a:p>
        </p:txBody>
      </p:sp>
      <p:sp>
        <p:nvSpPr>
          <p:cNvPr id="20" name="Text 17"/>
          <p:cNvSpPr txBox="1"/>
          <p:nvPr/>
        </p:nvSpPr>
        <p:spPr>
          <a:xfrm>
            <a:off x="6537960" y="5102352"/>
            <a:ext cx="4892040" cy="786384"/>
          </a:xfrm>
          <a:prstGeom prst="rect">
            <a:avLst/>
          </a:prstGeom>
          <a:noFill/>
          <a:ln/>
        </p:spPr>
        <p:txBody>
          <a:bodyPr wrap="square" lIns="0" tIns="0" rIns="0" bIns="0" rtlCol="0" anchor="ctr"/>
          <a:lstStyle/>
          <a:p>
            <a:pPr indent="0" marL="0">
              <a:buNone/>
            </a:pPr>
            <a:r>
              <a:rPr lang="en-US" sz="1600" b="1" dirty="0">
                <a:solidFill>
                  <a:srgbClr val="4B18E8"/>
                </a:solidFill>
                <a:latin typeface="Arial" pitchFamily="34" charset="0"/>
                <a:ea typeface="Arial" pitchFamily="34" charset="-122"/>
                <a:cs typeface="Arial" pitchFamily="34" charset="-120"/>
              </a:rPr>
              <a:t>…fine. That one is this.</a:t>
            </a:r>
            <a:endParaRPr lang="en-US" sz="1600" dirty="0"/>
          </a:p>
        </p:txBody>
      </p:sp>
      <p:sp>
        <p:nvSpPr>
          <p:cNvPr id="21" name="Text 18"/>
          <p:cNvSpPr txBox="1"/>
          <p:nvPr/>
        </p:nvSpPr>
        <p:spPr>
          <a:xfrm>
            <a:off x="594360" y="6144768"/>
            <a:ext cx="11064240" cy="365760"/>
          </a:xfrm>
          <a:prstGeom prst="rect">
            <a:avLst/>
          </a:prstGeom>
          <a:noFill/>
          <a:ln/>
        </p:spPr>
        <p:txBody>
          <a:bodyPr wrap="square" lIns="0" tIns="0" rIns="0" bIns="0" rtlCol="0" anchor="ctr"/>
          <a:lstStyle/>
          <a:p>
            <a:pPr algn="l" indent="0" marL="0">
              <a:buNone/>
            </a:pPr>
            <a:r>
              <a:rPr lang="en-US" sz="1200" dirty="0">
                <a:solidFill>
                  <a:srgbClr val="6B4EF0"/>
                </a:solidFill>
                <a:latin typeface="Courier New" pitchFamily="34" charset="0"/>
                <a:ea typeface="Courier New" pitchFamily="34" charset="-122"/>
                <a:cs typeface="Courier New" pitchFamily="34" charset="-120"/>
              </a:rPr>
              <a:t># a talk that tells you not to use the software is still a talk</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EAEAEA"/>
        </a:solidFill>
      </p:bgPr>
    </p:bg>
    <p:spTree>
      <p:nvGrpSpPr>
        <p:cNvPr id="1" name=""/>
        <p:cNvGrpSpPr/>
        <p:nvPr/>
      </p:nvGrpSpPr>
      <p:grpSpPr>
        <a:xfrm>
          <a:off x="0" y="0"/>
          <a:ext cx="0" cy="0"/>
          <a:chOff x="0" y="0"/>
          <a:chExt cx="0" cy="0"/>
        </a:xfrm>
      </p:grpSpPr>
      <p:sp>
        <p:nvSpPr>
          <p:cNvPr id="3" name="Shape 0"/>
          <p:cNvSpPr/>
          <p:nvPr/>
        </p:nvSpPr>
        <p:spPr>
          <a:xfrm>
            <a:off x="566928" y="384048"/>
            <a:ext cx="566928" cy="566928"/>
          </a:xfrm>
          <a:prstGeom prst="ellipse">
            <a:avLst/>
          </a:prstGeom>
          <a:solidFill>
            <a:srgbClr val="4B18E8"/>
          </a:solidFill>
          <a:ln/>
        </p:spPr>
      </p:sp>
      <p:sp>
        <p:nvSpPr>
          <p:cNvPr id="4" name="Text 1"/>
          <p:cNvSpPr txBox="1"/>
          <p:nvPr/>
        </p:nvSpPr>
        <p:spPr>
          <a:xfrm>
            <a:off x="566928" y="3840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16</a:t>
            </a:r>
            <a:endParaRPr lang="en-US" sz="2000" dirty="0"/>
          </a:p>
        </p:txBody>
      </p:sp>
      <p:sp>
        <p:nvSpPr>
          <p:cNvPr id="5" name="Text 2"/>
          <p:cNvSpPr txBox="1"/>
          <p:nvPr/>
        </p:nvSpPr>
        <p:spPr>
          <a:xfrm>
            <a:off x="1325880" y="329184"/>
            <a:ext cx="10332720" cy="713232"/>
          </a:xfrm>
          <a:prstGeom prst="rect">
            <a:avLst/>
          </a:prstGeom>
          <a:noFill/>
          <a:ln/>
        </p:spPr>
        <p:txBody>
          <a:bodyPr wrap="square" lIns="0" tIns="0" rIns="0" bIns="0" rtlCol="0" anchor="ctr"/>
          <a:lstStyle/>
          <a:p>
            <a:pPr algn="l" indent="0" marL="0">
              <a:buNone/>
            </a:pPr>
            <a:r>
              <a:rPr lang="en-US" sz="3400" b="1" dirty="0">
                <a:solidFill>
                  <a:srgbClr val="1A1533"/>
                </a:solidFill>
                <a:latin typeface="Arial" pitchFamily="34" charset="0"/>
                <a:ea typeface="Arial" pitchFamily="34" charset="-122"/>
                <a:cs typeface="Arial" pitchFamily="34" charset="-120"/>
              </a:rPr>
              <a:t>The Python bits</a:t>
            </a:r>
            <a:endParaRPr lang="en-US" sz="3400" dirty="0"/>
          </a:p>
        </p:txBody>
      </p:sp>
      <p:sp>
        <p:nvSpPr>
          <p:cNvPr id="6" name="Shape 3"/>
          <p:cNvSpPr/>
          <p:nvPr/>
        </p:nvSpPr>
        <p:spPr>
          <a:xfrm>
            <a:off x="594360" y="1371600"/>
            <a:ext cx="5394960" cy="1371600"/>
          </a:xfrm>
          <a:prstGeom prst="roundRect">
            <a:avLst>
              <a:gd name="adj" fmla="val 5333"/>
            </a:avLst>
          </a:prstGeom>
          <a:solidFill>
            <a:srgbClr val="FFFFFF"/>
          </a:solidFill>
          <a:ln w="12700">
            <a:solidFill>
              <a:srgbClr val="EDE8FD"/>
            </a:solidFill>
            <a:prstDash val="solid"/>
          </a:ln>
        </p:spPr>
      </p:sp>
      <p:sp>
        <p:nvSpPr>
          <p:cNvPr id="7" name="Text 4"/>
          <p:cNvSpPr txBox="1"/>
          <p:nvPr/>
        </p:nvSpPr>
        <p:spPr>
          <a:xfrm>
            <a:off x="850392" y="1536192"/>
            <a:ext cx="4882896" cy="384048"/>
          </a:xfrm>
          <a:prstGeom prst="rect">
            <a:avLst/>
          </a:prstGeom>
          <a:noFill/>
          <a:ln/>
        </p:spPr>
        <p:txBody>
          <a:bodyPr wrap="square" lIns="0" tIns="0" rIns="0" bIns="0" rtlCol="0" anchor="ctr"/>
          <a:lstStyle/>
          <a:p>
            <a:pPr indent="0" marL="0">
              <a:buNone/>
            </a:pPr>
            <a:r>
              <a:rPr lang="en-US" sz="1800" b="1" dirty="0">
                <a:solidFill>
                  <a:srgbClr val="4B18E8"/>
                </a:solidFill>
                <a:latin typeface="Arial" pitchFamily="34" charset="0"/>
                <a:ea typeface="Arial" pitchFamily="34" charset="-122"/>
                <a:cs typeface="Arial" pitchFamily="34" charset="-120"/>
              </a:rPr>
              <a:t>FastAPI + async SQLAlchemy</a:t>
            </a:r>
            <a:endParaRPr lang="en-US" sz="1800" dirty="0"/>
          </a:p>
        </p:txBody>
      </p:sp>
      <p:sp>
        <p:nvSpPr>
          <p:cNvPr id="8" name="Text 5"/>
          <p:cNvSpPr txBox="1"/>
          <p:nvPr/>
        </p:nvSpPr>
        <p:spPr>
          <a:xfrm>
            <a:off x="850392" y="1938528"/>
            <a:ext cx="4882896" cy="640080"/>
          </a:xfrm>
          <a:prstGeom prst="rect">
            <a:avLst/>
          </a:prstGeom>
          <a:noFill/>
          <a:ln/>
        </p:spPr>
        <p:txBody>
          <a:bodyPr wrap="square" lIns="0" tIns="0" rIns="0" bIns="0" rtlCol="0" anchor="t"/>
          <a:lstStyle/>
          <a:p>
            <a:pPr indent="0" marL="0">
              <a:lnSpc>
                <a:spcPct val="110000"/>
              </a:lnSpc>
              <a:buNone/>
            </a:pPr>
            <a:r>
              <a:rPr lang="en-US" sz="1350" dirty="0">
                <a:solidFill>
                  <a:srgbClr val="5F5878"/>
                </a:solidFill>
                <a:latin typeface="Arial" pitchFamily="34" charset="0"/>
                <a:ea typeface="Arial" pitchFamily="34" charset="-122"/>
                <a:cs typeface="Arial" pitchFamily="34" charset="-120"/>
              </a:rPr>
              <a:t>One app. RFC 8555 endpoints, REST API, and the SPA, all from one process.</a:t>
            </a:r>
            <a:endParaRPr lang="en-US" sz="1350" dirty="0"/>
          </a:p>
        </p:txBody>
      </p:sp>
      <p:sp>
        <p:nvSpPr>
          <p:cNvPr id="9" name="Shape 6"/>
          <p:cNvSpPr/>
          <p:nvPr/>
        </p:nvSpPr>
        <p:spPr>
          <a:xfrm>
            <a:off x="6199632" y="1371600"/>
            <a:ext cx="5394960" cy="1371600"/>
          </a:xfrm>
          <a:prstGeom prst="roundRect">
            <a:avLst>
              <a:gd name="adj" fmla="val 5333"/>
            </a:avLst>
          </a:prstGeom>
          <a:solidFill>
            <a:srgbClr val="FFFFFF"/>
          </a:solidFill>
          <a:ln w="12700">
            <a:solidFill>
              <a:srgbClr val="EDE8FD"/>
            </a:solidFill>
            <a:prstDash val="solid"/>
          </a:ln>
        </p:spPr>
      </p:sp>
      <p:sp>
        <p:nvSpPr>
          <p:cNvPr id="10" name="Text 7"/>
          <p:cNvSpPr txBox="1"/>
          <p:nvPr/>
        </p:nvSpPr>
        <p:spPr>
          <a:xfrm>
            <a:off x="6455664" y="1536192"/>
            <a:ext cx="4882896" cy="384048"/>
          </a:xfrm>
          <a:prstGeom prst="rect">
            <a:avLst/>
          </a:prstGeom>
          <a:noFill/>
          <a:ln/>
        </p:spPr>
        <p:txBody>
          <a:bodyPr wrap="square" lIns="0" tIns="0" rIns="0" bIns="0" rtlCol="0" anchor="ctr"/>
          <a:lstStyle/>
          <a:p>
            <a:pPr indent="0" marL="0">
              <a:buNone/>
            </a:pPr>
            <a:r>
              <a:rPr lang="en-US" sz="1800" b="1" dirty="0">
                <a:solidFill>
                  <a:srgbClr val="4B18E8"/>
                </a:solidFill>
                <a:latin typeface="Arial" pitchFamily="34" charset="0"/>
                <a:ea typeface="Arial" pitchFamily="34" charset="-122"/>
                <a:cs typeface="Arial" pitchFamily="34" charset="-120"/>
              </a:rPr>
              <a:t>certbot’s own acme library</a:t>
            </a:r>
            <a:endParaRPr lang="en-US" sz="1800" dirty="0"/>
          </a:p>
        </p:txBody>
      </p:sp>
      <p:sp>
        <p:nvSpPr>
          <p:cNvPr id="11" name="Text 8"/>
          <p:cNvSpPr txBox="1"/>
          <p:nvPr/>
        </p:nvSpPr>
        <p:spPr>
          <a:xfrm>
            <a:off x="6455664" y="1938528"/>
            <a:ext cx="4882896" cy="640080"/>
          </a:xfrm>
          <a:prstGeom prst="rect">
            <a:avLst/>
          </a:prstGeom>
          <a:noFill/>
          <a:ln/>
        </p:spPr>
        <p:txBody>
          <a:bodyPr wrap="square" lIns="0" tIns="0" rIns="0" bIns="0" rtlCol="0" anchor="t"/>
          <a:lstStyle/>
          <a:p>
            <a:pPr indent="0" marL="0">
              <a:lnSpc>
                <a:spcPct val="110000"/>
              </a:lnSpc>
              <a:buNone/>
            </a:pPr>
            <a:r>
              <a:rPr lang="en-US" sz="1350" dirty="0">
                <a:solidFill>
                  <a:srgbClr val="5F5878"/>
                </a:solidFill>
                <a:latin typeface="Arial" pitchFamily="34" charset="0"/>
                <a:ea typeface="Arial" pitchFamily="34" charset="-122"/>
                <a:cs typeface="Arial" pitchFamily="34" charset="-120"/>
              </a:rPr>
              <a:t>The reference implementation is on PyPI. I did not write an ACME client.</a:t>
            </a:r>
            <a:endParaRPr lang="en-US" sz="1350" dirty="0"/>
          </a:p>
        </p:txBody>
      </p:sp>
      <p:sp>
        <p:nvSpPr>
          <p:cNvPr id="12" name="Shape 9"/>
          <p:cNvSpPr/>
          <p:nvPr/>
        </p:nvSpPr>
        <p:spPr>
          <a:xfrm>
            <a:off x="594360" y="2944368"/>
            <a:ext cx="5394960" cy="1371600"/>
          </a:xfrm>
          <a:prstGeom prst="roundRect">
            <a:avLst>
              <a:gd name="adj" fmla="val 5333"/>
            </a:avLst>
          </a:prstGeom>
          <a:solidFill>
            <a:srgbClr val="FFFFFF"/>
          </a:solidFill>
          <a:ln w="12700">
            <a:solidFill>
              <a:srgbClr val="EDE8FD"/>
            </a:solidFill>
            <a:prstDash val="solid"/>
          </a:ln>
        </p:spPr>
      </p:sp>
      <p:sp>
        <p:nvSpPr>
          <p:cNvPr id="13" name="Text 10"/>
          <p:cNvSpPr txBox="1"/>
          <p:nvPr/>
        </p:nvSpPr>
        <p:spPr>
          <a:xfrm>
            <a:off x="850392" y="3108960"/>
            <a:ext cx="4882896" cy="384048"/>
          </a:xfrm>
          <a:prstGeom prst="rect">
            <a:avLst/>
          </a:prstGeom>
          <a:noFill/>
          <a:ln/>
        </p:spPr>
        <p:txBody>
          <a:bodyPr wrap="square" lIns="0" tIns="0" rIns="0" bIns="0" rtlCol="0" anchor="ctr"/>
          <a:lstStyle/>
          <a:p>
            <a:pPr indent="0" marL="0">
              <a:buNone/>
            </a:pPr>
            <a:r>
              <a:rPr lang="en-US" sz="1800" b="1" dirty="0">
                <a:solidFill>
                  <a:srgbClr val="4B18E8"/>
                </a:solidFill>
                <a:latin typeface="Arial" pitchFamily="34" charset="0"/>
                <a:ea typeface="Arial" pitchFamily="34" charset="-122"/>
                <a:cs typeface="Arial" pitchFamily="34" charset="-120"/>
              </a:rPr>
              <a:t>cryptography</a:t>
            </a:r>
            <a:endParaRPr lang="en-US" sz="1800" dirty="0"/>
          </a:p>
        </p:txBody>
      </p:sp>
      <p:sp>
        <p:nvSpPr>
          <p:cNvPr id="14" name="Text 11"/>
          <p:cNvSpPr txBox="1"/>
          <p:nvPr/>
        </p:nvSpPr>
        <p:spPr>
          <a:xfrm>
            <a:off x="850392" y="3511296"/>
            <a:ext cx="4882896" cy="640080"/>
          </a:xfrm>
          <a:prstGeom prst="rect">
            <a:avLst/>
          </a:prstGeom>
          <a:noFill/>
          <a:ln/>
        </p:spPr>
        <p:txBody>
          <a:bodyPr wrap="square" lIns="0" tIns="0" rIns="0" bIns="0" rtlCol="0" anchor="t"/>
          <a:lstStyle/>
          <a:p>
            <a:pPr indent="0" marL="0">
              <a:lnSpc>
                <a:spcPct val="110000"/>
              </a:lnSpc>
              <a:buNone/>
            </a:pPr>
            <a:r>
              <a:rPr lang="en-US" sz="1350" dirty="0">
                <a:solidFill>
                  <a:srgbClr val="5F5878"/>
                </a:solidFill>
                <a:latin typeface="Arial" pitchFamily="34" charset="0"/>
                <a:ea typeface="Arial" pitchFamily="34" charset="-122"/>
                <a:cs typeface="Arial" pitchFamily="34" charset="-120"/>
              </a:rPr>
              <a:t>CSRs, signing, and the raw TLS probe behind every health badge.</a:t>
            </a:r>
            <a:endParaRPr lang="en-US" sz="1350" dirty="0"/>
          </a:p>
        </p:txBody>
      </p:sp>
      <p:sp>
        <p:nvSpPr>
          <p:cNvPr id="15" name="Shape 12"/>
          <p:cNvSpPr/>
          <p:nvPr/>
        </p:nvSpPr>
        <p:spPr>
          <a:xfrm>
            <a:off x="6199632" y="2944368"/>
            <a:ext cx="5394960" cy="1371600"/>
          </a:xfrm>
          <a:prstGeom prst="roundRect">
            <a:avLst>
              <a:gd name="adj" fmla="val 5333"/>
            </a:avLst>
          </a:prstGeom>
          <a:solidFill>
            <a:srgbClr val="FFFFFF"/>
          </a:solidFill>
          <a:ln w="12700">
            <a:solidFill>
              <a:srgbClr val="EDE8FD"/>
            </a:solidFill>
            <a:prstDash val="solid"/>
          </a:ln>
        </p:spPr>
      </p:sp>
      <p:sp>
        <p:nvSpPr>
          <p:cNvPr id="16" name="Text 13"/>
          <p:cNvSpPr txBox="1"/>
          <p:nvPr/>
        </p:nvSpPr>
        <p:spPr>
          <a:xfrm>
            <a:off x="6455664" y="3108960"/>
            <a:ext cx="4882896" cy="384048"/>
          </a:xfrm>
          <a:prstGeom prst="rect">
            <a:avLst/>
          </a:prstGeom>
          <a:noFill/>
          <a:ln/>
        </p:spPr>
        <p:txBody>
          <a:bodyPr wrap="square" lIns="0" tIns="0" rIns="0" bIns="0" rtlCol="0" anchor="ctr"/>
          <a:lstStyle/>
          <a:p>
            <a:pPr indent="0" marL="0">
              <a:buNone/>
            </a:pPr>
            <a:r>
              <a:rPr lang="en-US" sz="1800" b="1" dirty="0">
                <a:solidFill>
                  <a:srgbClr val="4B18E8"/>
                </a:solidFill>
                <a:latin typeface="Arial" pitchFamily="34" charset="0"/>
                <a:ea typeface="Arial" pitchFamily="34" charset="-122"/>
                <a:cs typeface="Arial" pitchFamily="34" charset="-120"/>
              </a:rPr>
              <a:t>Alembic on startup</a:t>
            </a:r>
            <a:endParaRPr lang="en-US" sz="1800" dirty="0"/>
          </a:p>
        </p:txBody>
      </p:sp>
      <p:sp>
        <p:nvSpPr>
          <p:cNvPr id="17" name="Text 14"/>
          <p:cNvSpPr txBox="1"/>
          <p:nvPr/>
        </p:nvSpPr>
        <p:spPr>
          <a:xfrm>
            <a:off x="6455664" y="3511296"/>
            <a:ext cx="4882896" cy="640080"/>
          </a:xfrm>
          <a:prstGeom prst="rect">
            <a:avLst/>
          </a:prstGeom>
          <a:noFill/>
          <a:ln/>
        </p:spPr>
        <p:txBody>
          <a:bodyPr wrap="square" lIns="0" tIns="0" rIns="0" bIns="0" rtlCol="0" anchor="t"/>
          <a:lstStyle/>
          <a:p>
            <a:pPr indent="0" marL="0">
              <a:lnSpc>
                <a:spcPct val="110000"/>
              </a:lnSpc>
              <a:buNone/>
            </a:pPr>
            <a:r>
              <a:rPr lang="en-US" sz="1350" dirty="0">
                <a:solidFill>
                  <a:srgbClr val="5F5878"/>
                </a:solidFill>
                <a:latin typeface="Arial" pitchFamily="34" charset="0"/>
                <a:ea typeface="Arial" pitchFamily="34" charset="-122"/>
                <a:cs typeface="Arial" pitchFamily="34" charset="-120"/>
              </a:rPr>
              <a:t>The container migrates itself. Upgrades are docker pull.</a:t>
            </a:r>
            <a:endParaRPr lang="en-US" sz="1350" dirty="0"/>
          </a:p>
        </p:txBody>
      </p:sp>
      <p:sp>
        <p:nvSpPr>
          <p:cNvPr id="18" name="Shape 15"/>
          <p:cNvSpPr/>
          <p:nvPr/>
        </p:nvSpPr>
        <p:spPr>
          <a:xfrm>
            <a:off x="594360" y="4517136"/>
            <a:ext cx="5394960" cy="1371600"/>
          </a:xfrm>
          <a:prstGeom prst="roundRect">
            <a:avLst>
              <a:gd name="adj" fmla="val 5333"/>
            </a:avLst>
          </a:prstGeom>
          <a:solidFill>
            <a:srgbClr val="FFFFFF"/>
          </a:solidFill>
          <a:ln w="12700">
            <a:solidFill>
              <a:srgbClr val="EDE8FD"/>
            </a:solidFill>
            <a:prstDash val="solid"/>
          </a:ln>
        </p:spPr>
      </p:sp>
      <p:sp>
        <p:nvSpPr>
          <p:cNvPr id="19" name="Text 16"/>
          <p:cNvSpPr txBox="1"/>
          <p:nvPr/>
        </p:nvSpPr>
        <p:spPr>
          <a:xfrm>
            <a:off x="850392" y="4681728"/>
            <a:ext cx="4882896" cy="384048"/>
          </a:xfrm>
          <a:prstGeom prst="rect">
            <a:avLst/>
          </a:prstGeom>
          <a:noFill/>
          <a:ln/>
        </p:spPr>
        <p:txBody>
          <a:bodyPr wrap="square" lIns="0" tIns="0" rIns="0" bIns="0" rtlCol="0" anchor="ctr"/>
          <a:lstStyle/>
          <a:p>
            <a:pPr indent="0" marL="0">
              <a:buNone/>
            </a:pPr>
            <a:r>
              <a:rPr lang="en-US" sz="1800" b="1" dirty="0">
                <a:solidFill>
                  <a:srgbClr val="4B18E8"/>
                </a:solidFill>
                <a:latin typeface="Arial" pitchFamily="34" charset="0"/>
                <a:ea typeface="Arial" pitchFamily="34" charset="-122"/>
                <a:cs typeface="Arial" pitchFamily="34" charset="-120"/>
              </a:rPr>
              <a:t>Pebble + pytest</a:t>
            </a:r>
            <a:endParaRPr lang="en-US" sz="1800" dirty="0"/>
          </a:p>
        </p:txBody>
      </p:sp>
      <p:sp>
        <p:nvSpPr>
          <p:cNvPr id="20" name="Text 17"/>
          <p:cNvSpPr txBox="1"/>
          <p:nvPr/>
        </p:nvSpPr>
        <p:spPr>
          <a:xfrm>
            <a:off x="850392" y="5084064"/>
            <a:ext cx="4882896" cy="640080"/>
          </a:xfrm>
          <a:prstGeom prst="rect">
            <a:avLst/>
          </a:prstGeom>
          <a:noFill/>
          <a:ln/>
        </p:spPr>
        <p:txBody>
          <a:bodyPr wrap="square" lIns="0" tIns="0" rIns="0" bIns="0" rtlCol="0" anchor="t"/>
          <a:lstStyle/>
          <a:p>
            <a:pPr indent="0" marL="0">
              <a:lnSpc>
                <a:spcPct val="110000"/>
              </a:lnSpc>
              <a:buNone/>
            </a:pPr>
            <a:r>
              <a:rPr lang="en-US" sz="1350" dirty="0">
                <a:solidFill>
                  <a:srgbClr val="5F5878"/>
                </a:solidFill>
                <a:latin typeface="Arial" pitchFamily="34" charset="0"/>
                <a:ea typeface="Arial" pitchFamily="34" charset="-122"/>
                <a:cs typeface="Arial" pitchFamily="34" charset="-120"/>
              </a:rPr>
              <a:t>A real ACME CA in a container that issues deliberately terrible certs. e2e for the whole chain.</a:t>
            </a:r>
            <a:endParaRPr lang="en-US" sz="1350" dirty="0"/>
          </a:p>
        </p:txBody>
      </p:sp>
      <p:sp>
        <p:nvSpPr>
          <p:cNvPr id="21" name="Shape 18"/>
          <p:cNvSpPr/>
          <p:nvPr/>
        </p:nvSpPr>
        <p:spPr>
          <a:xfrm>
            <a:off x="6199632" y="4517136"/>
            <a:ext cx="5394960" cy="1371600"/>
          </a:xfrm>
          <a:prstGeom prst="roundRect">
            <a:avLst>
              <a:gd name="adj" fmla="val 5333"/>
            </a:avLst>
          </a:prstGeom>
          <a:solidFill>
            <a:srgbClr val="FFFFFF"/>
          </a:solidFill>
          <a:ln w="12700">
            <a:solidFill>
              <a:srgbClr val="EDE8FD"/>
            </a:solidFill>
            <a:prstDash val="solid"/>
          </a:ln>
        </p:spPr>
      </p:sp>
      <p:sp>
        <p:nvSpPr>
          <p:cNvPr id="22" name="Text 19"/>
          <p:cNvSpPr txBox="1"/>
          <p:nvPr/>
        </p:nvSpPr>
        <p:spPr>
          <a:xfrm>
            <a:off x="6455664" y="4681728"/>
            <a:ext cx="4882896" cy="384048"/>
          </a:xfrm>
          <a:prstGeom prst="rect">
            <a:avLst/>
          </a:prstGeom>
          <a:noFill/>
          <a:ln/>
        </p:spPr>
        <p:txBody>
          <a:bodyPr wrap="square" lIns="0" tIns="0" rIns="0" bIns="0" rtlCol="0" anchor="ctr"/>
          <a:lstStyle/>
          <a:p>
            <a:pPr indent="0" marL="0">
              <a:buNone/>
            </a:pPr>
            <a:r>
              <a:rPr lang="en-US" sz="1800" b="1" dirty="0">
                <a:solidFill>
                  <a:srgbClr val="4B18E8"/>
                </a:solidFill>
                <a:latin typeface="Arial" pitchFamily="34" charset="0"/>
                <a:ea typeface="Arial" pitchFamily="34" charset="-122"/>
                <a:cs typeface="Arial" pitchFamily="34" charset="-120"/>
              </a:rPr>
              <a:t>Vue 3 + Playwright</a:t>
            </a:r>
            <a:endParaRPr lang="en-US" sz="1800" dirty="0"/>
          </a:p>
        </p:txBody>
      </p:sp>
      <p:sp>
        <p:nvSpPr>
          <p:cNvPr id="23" name="Text 20"/>
          <p:cNvSpPr txBox="1"/>
          <p:nvPr/>
        </p:nvSpPr>
        <p:spPr>
          <a:xfrm>
            <a:off x="6455664" y="5084064"/>
            <a:ext cx="4882896" cy="640080"/>
          </a:xfrm>
          <a:prstGeom prst="rect">
            <a:avLst/>
          </a:prstGeom>
          <a:noFill/>
          <a:ln/>
        </p:spPr>
        <p:txBody>
          <a:bodyPr wrap="square" lIns="0" tIns="0" rIns="0" bIns="0" rtlCol="0" anchor="t"/>
          <a:lstStyle/>
          <a:p>
            <a:pPr indent="0" marL="0">
              <a:lnSpc>
                <a:spcPct val="110000"/>
              </a:lnSpc>
              <a:buNone/>
            </a:pPr>
            <a:r>
              <a:rPr lang="en-US" sz="1350" dirty="0">
                <a:solidFill>
                  <a:srgbClr val="5F5878"/>
                </a:solidFill>
                <a:latin typeface="Arial" pitchFamily="34" charset="0"/>
                <a:ea typeface="Arial" pitchFamily="34" charset="-122"/>
                <a:cs typeface="Arial" pitchFamily="34" charset="-120"/>
              </a:rPr>
              <a:t>The dashboard, and UI tests in CI. Sorry — that bit is not Python.</a:t>
            </a:r>
            <a:endParaRPr lang="en-US" sz="1350" dirty="0"/>
          </a:p>
        </p:txBody>
      </p:sp>
      <p:sp>
        <p:nvSpPr>
          <p:cNvPr id="24" name="Text 21"/>
          <p:cNvSpPr txBox="1"/>
          <p:nvPr/>
        </p:nvSpPr>
        <p:spPr>
          <a:xfrm>
            <a:off x="594360" y="6144768"/>
            <a:ext cx="11064240" cy="365760"/>
          </a:xfrm>
          <a:prstGeom prst="rect">
            <a:avLst/>
          </a:prstGeom>
          <a:noFill/>
          <a:ln/>
        </p:spPr>
        <p:txBody>
          <a:bodyPr wrap="square" lIns="0" tIns="0" rIns="0" bIns="0" rtlCol="0" anchor="ctr"/>
          <a:lstStyle/>
          <a:p>
            <a:pPr algn="l" indent="0" marL="0">
              <a:buNone/>
            </a:pPr>
            <a:r>
              <a:rPr lang="en-US" sz="1200" dirty="0">
                <a:solidFill>
                  <a:srgbClr val="6B4EF0"/>
                </a:solidFill>
                <a:latin typeface="Courier New" pitchFamily="34" charset="0"/>
                <a:ea typeface="Courier New" pitchFamily="34" charset="-122"/>
                <a:cs typeface="Courier New" pitchFamily="34" charset="-120"/>
              </a:rPr>
              <a:t># uv sync &amp;&amp; uv run acme-lan</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EAEAEA"/>
        </a:solidFill>
      </p:bgPr>
    </p:bg>
    <p:spTree>
      <p:nvGrpSpPr>
        <p:cNvPr id="1" name=""/>
        <p:cNvGrpSpPr/>
        <p:nvPr/>
      </p:nvGrpSpPr>
      <p:grpSpPr>
        <a:xfrm>
          <a:off x="0" y="0"/>
          <a:ext cx="0" cy="0"/>
          <a:chOff x="0" y="0"/>
          <a:chExt cx="0" cy="0"/>
        </a:xfrm>
      </p:grpSpPr>
      <p:sp>
        <p:nvSpPr>
          <p:cNvPr id="3" name="Shape 0"/>
          <p:cNvSpPr/>
          <p:nvPr/>
        </p:nvSpPr>
        <p:spPr>
          <a:xfrm>
            <a:off x="566928" y="384048"/>
            <a:ext cx="566928" cy="566928"/>
          </a:xfrm>
          <a:prstGeom prst="ellipse">
            <a:avLst/>
          </a:prstGeom>
          <a:solidFill>
            <a:srgbClr val="4B18E8"/>
          </a:solidFill>
          <a:ln/>
        </p:spPr>
      </p:sp>
      <p:sp>
        <p:nvSpPr>
          <p:cNvPr id="4" name="Text 1"/>
          <p:cNvSpPr txBox="1"/>
          <p:nvPr/>
        </p:nvSpPr>
        <p:spPr>
          <a:xfrm>
            <a:off x="566928" y="3840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17</a:t>
            </a:r>
            <a:endParaRPr lang="en-US" sz="2000" dirty="0"/>
          </a:p>
        </p:txBody>
      </p:sp>
      <p:sp>
        <p:nvSpPr>
          <p:cNvPr id="5" name="Text 2"/>
          <p:cNvSpPr txBox="1"/>
          <p:nvPr/>
        </p:nvSpPr>
        <p:spPr>
          <a:xfrm>
            <a:off x="1325880" y="329184"/>
            <a:ext cx="10332720" cy="713232"/>
          </a:xfrm>
          <a:prstGeom prst="rect">
            <a:avLst/>
          </a:prstGeom>
          <a:noFill/>
          <a:ln/>
        </p:spPr>
        <p:txBody>
          <a:bodyPr wrap="square" lIns="0" tIns="0" rIns="0" bIns="0" rtlCol="0" anchor="ctr"/>
          <a:lstStyle/>
          <a:p>
            <a:pPr algn="l" indent="0" marL="0">
              <a:buNone/>
            </a:pPr>
            <a:r>
              <a:rPr lang="en-US" sz="3400" b="1" dirty="0">
                <a:solidFill>
                  <a:srgbClr val="1A1533"/>
                </a:solidFill>
                <a:latin typeface="Arial" pitchFamily="34" charset="0"/>
                <a:ea typeface="Arial" pitchFamily="34" charset="-122"/>
                <a:cs typeface="Arial" pitchFamily="34" charset="-120"/>
              </a:rPr>
              <a:t>Three things I’d tell past me</a:t>
            </a:r>
            <a:endParaRPr lang="en-US" sz="3400" dirty="0"/>
          </a:p>
        </p:txBody>
      </p:sp>
      <p:sp>
        <p:nvSpPr>
          <p:cNvPr id="6" name="Shape 3"/>
          <p:cNvSpPr/>
          <p:nvPr/>
        </p:nvSpPr>
        <p:spPr>
          <a:xfrm>
            <a:off x="594360" y="1463040"/>
            <a:ext cx="11000232" cy="1234440"/>
          </a:xfrm>
          <a:prstGeom prst="roundRect">
            <a:avLst>
              <a:gd name="adj" fmla="val 5926"/>
            </a:avLst>
          </a:prstGeom>
          <a:solidFill>
            <a:srgbClr val="FFFFFF"/>
          </a:solidFill>
          <a:ln w="12700">
            <a:solidFill>
              <a:srgbClr val="EDE8FD"/>
            </a:solidFill>
            <a:prstDash val="solid"/>
          </a:ln>
        </p:spPr>
      </p:sp>
      <p:sp>
        <p:nvSpPr>
          <p:cNvPr id="7" name="Shape 4"/>
          <p:cNvSpPr/>
          <p:nvPr/>
        </p:nvSpPr>
        <p:spPr>
          <a:xfrm>
            <a:off x="914400" y="1874520"/>
            <a:ext cx="411480" cy="411480"/>
          </a:xfrm>
          <a:prstGeom prst="ellipse">
            <a:avLst/>
          </a:prstGeom>
          <a:solidFill>
            <a:srgbClr val="4B18E8"/>
          </a:solidFill>
          <a:ln/>
        </p:spPr>
      </p:sp>
      <p:sp>
        <p:nvSpPr>
          <p:cNvPr id="8" name="Text 5"/>
          <p:cNvSpPr txBox="1"/>
          <p:nvPr/>
        </p:nvSpPr>
        <p:spPr>
          <a:xfrm>
            <a:off x="914400" y="1874520"/>
            <a:ext cx="411480" cy="41148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1</a:t>
            </a:r>
            <a:endParaRPr lang="en-US" sz="1600" dirty="0"/>
          </a:p>
        </p:txBody>
      </p:sp>
      <p:sp>
        <p:nvSpPr>
          <p:cNvPr id="9" name="Text 6"/>
          <p:cNvSpPr txBox="1"/>
          <p:nvPr/>
        </p:nvSpPr>
        <p:spPr>
          <a:xfrm>
            <a:off x="1554480" y="1645920"/>
            <a:ext cx="9692640" cy="457200"/>
          </a:xfrm>
          <a:prstGeom prst="rect">
            <a:avLst/>
          </a:prstGeom>
          <a:noFill/>
          <a:ln/>
        </p:spPr>
        <p:txBody>
          <a:bodyPr wrap="square" lIns="0" tIns="0" rIns="0" bIns="0" rtlCol="0" anchor="ctr"/>
          <a:lstStyle/>
          <a:p>
            <a:pPr indent="0" marL="0">
              <a:buNone/>
            </a:pPr>
            <a:r>
              <a:rPr lang="en-US" sz="2400" b="1" dirty="0">
                <a:solidFill>
                  <a:srgbClr val="1A1533"/>
                </a:solidFill>
                <a:latin typeface="Arial" pitchFamily="34" charset="0"/>
                <a:ea typeface="Arial" pitchFamily="34" charset="-122"/>
                <a:cs typeface="Arial" pitchFamily="34" charset="-120"/>
              </a:rPr>
              <a:t>Forward the CSR.</a:t>
            </a:r>
            <a:endParaRPr lang="en-US" sz="2400" dirty="0"/>
          </a:p>
        </p:txBody>
      </p:sp>
      <p:sp>
        <p:nvSpPr>
          <p:cNvPr id="10" name="Text 7"/>
          <p:cNvSpPr txBox="1"/>
          <p:nvPr/>
        </p:nvSpPr>
        <p:spPr>
          <a:xfrm>
            <a:off x="1554480" y="2121408"/>
            <a:ext cx="9692640" cy="411480"/>
          </a:xfrm>
          <a:prstGeom prst="rect">
            <a:avLst/>
          </a:prstGeom>
          <a:noFill/>
          <a:ln/>
        </p:spPr>
        <p:txBody>
          <a:bodyPr wrap="square" lIns="0" tIns="0" rIns="0" bIns="0" rtlCol="0" anchor="ctr"/>
          <a:lstStyle/>
          <a:p>
            <a:pPr indent="0" marL="0">
              <a:buNone/>
            </a:pPr>
            <a:r>
              <a:rPr lang="en-US" sz="1600" dirty="0">
                <a:solidFill>
                  <a:srgbClr val="5F5878"/>
                </a:solidFill>
                <a:latin typeface="Arial" pitchFamily="34" charset="0"/>
                <a:ea typeface="Arial" pitchFamily="34" charset="-122"/>
                <a:cs typeface="Arial" pitchFamily="34" charset="-120"/>
              </a:rPr>
              <a:t>Everything else in the design falls out of that one decision.</a:t>
            </a:r>
            <a:endParaRPr lang="en-US" sz="1600" dirty="0"/>
          </a:p>
        </p:txBody>
      </p:sp>
      <p:sp>
        <p:nvSpPr>
          <p:cNvPr id="11" name="Shape 8"/>
          <p:cNvSpPr/>
          <p:nvPr/>
        </p:nvSpPr>
        <p:spPr>
          <a:xfrm>
            <a:off x="594360" y="2944368"/>
            <a:ext cx="11000232" cy="1234440"/>
          </a:xfrm>
          <a:prstGeom prst="roundRect">
            <a:avLst>
              <a:gd name="adj" fmla="val 5926"/>
            </a:avLst>
          </a:prstGeom>
          <a:solidFill>
            <a:srgbClr val="FFFFFF"/>
          </a:solidFill>
          <a:ln w="12700">
            <a:solidFill>
              <a:srgbClr val="EDE8FD"/>
            </a:solidFill>
            <a:prstDash val="solid"/>
          </a:ln>
        </p:spPr>
      </p:sp>
      <p:sp>
        <p:nvSpPr>
          <p:cNvPr id="12" name="Shape 9"/>
          <p:cNvSpPr/>
          <p:nvPr/>
        </p:nvSpPr>
        <p:spPr>
          <a:xfrm>
            <a:off x="914400" y="3355848"/>
            <a:ext cx="411480" cy="411480"/>
          </a:xfrm>
          <a:prstGeom prst="ellipse">
            <a:avLst/>
          </a:prstGeom>
          <a:solidFill>
            <a:srgbClr val="1F8A4F"/>
          </a:solidFill>
          <a:ln/>
        </p:spPr>
      </p:sp>
      <p:sp>
        <p:nvSpPr>
          <p:cNvPr id="13" name="Text 10"/>
          <p:cNvSpPr txBox="1"/>
          <p:nvPr/>
        </p:nvSpPr>
        <p:spPr>
          <a:xfrm>
            <a:off x="914400" y="3355848"/>
            <a:ext cx="411480" cy="41148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2</a:t>
            </a:r>
            <a:endParaRPr lang="en-US" sz="1600" dirty="0"/>
          </a:p>
        </p:txBody>
      </p:sp>
      <p:sp>
        <p:nvSpPr>
          <p:cNvPr id="14" name="Text 11"/>
          <p:cNvSpPr txBox="1"/>
          <p:nvPr/>
        </p:nvSpPr>
        <p:spPr>
          <a:xfrm>
            <a:off x="1554480" y="3127248"/>
            <a:ext cx="9692640" cy="457200"/>
          </a:xfrm>
          <a:prstGeom prst="rect">
            <a:avLst/>
          </a:prstGeom>
          <a:noFill/>
          <a:ln/>
        </p:spPr>
        <p:txBody>
          <a:bodyPr wrap="square" lIns="0" tIns="0" rIns="0" bIns="0" rtlCol="0" anchor="ctr"/>
          <a:lstStyle/>
          <a:p>
            <a:pPr indent="0" marL="0">
              <a:buNone/>
            </a:pPr>
            <a:r>
              <a:rPr lang="en-US" sz="2400" b="1" dirty="0">
                <a:solidFill>
                  <a:srgbClr val="1A1533"/>
                </a:solidFill>
                <a:latin typeface="Arial" pitchFamily="34" charset="0"/>
                <a:ea typeface="Arial" pitchFamily="34" charset="-122"/>
                <a:cs typeface="Arial" pitchFamily="34" charset="-120"/>
              </a:rPr>
              <a:t>Stay on staging longer.</a:t>
            </a:r>
            <a:endParaRPr lang="en-US" sz="2400" dirty="0"/>
          </a:p>
        </p:txBody>
      </p:sp>
      <p:sp>
        <p:nvSpPr>
          <p:cNvPr id="15" name="Text 12"/>
          <p:cNvSpPr txBox="1"/>
          <p:nvPr/>
        </p:nvSpPr>
        <p:spPr>
          <a:xfrm>
            <a:off x="1554480" y="3602736"/>
            <a:ext cx="9692640" cy="411480"/>
          </a:xfrm>
          <a:prstGeom prst="rect">
            <a:avLst/>
          </a:prstGeom>
          <a:noFill/>
          <a:ln/>
        </p:spPr>
        <p:txBody>
          <a:bodyPr wrap="square" lIns="0" tIns="0" rIns="0" bIns="0" rtlCol="0" anchor="ctr"/>
          <a:lstStyle/>
          <a:p>
            <a:pPr indent="0" marL="0">
              <a:buNone/>
            </a:pPr>
            <a:r>
              <a:rPr lang="en-US" sz="1600" dirty="0">
                <a:solidFill>
                  <a:srgbClr val="5F5878"/>
                </a:solidFill>
                <a:latin typeface="Arial" pitchFamily="34" charset="0"/>
                <a:ea typeface="Arial" pitchFamily="34" charset="-122"/>
                <a:cs typeface="Arial" pitchFamily="34" charset="-120"/>
              </a:rPr>
              <a:t>Rate limits are a patient and thorough teacher.</a:t>
            </a:r>
            <a:endParaRPr lang="en-US" sz="1600" dirty="0"/>
          </a:p>
        </p:txBody>
      </p:sp>
      <p:sp>
        <p:nvSpPr>
          <p:cNvPr id="16" name="Shape 13"/>
          <p:cNvSpPr/>
          <p:nvPr/>
        </p:nvSpPr>
        <p:spPr>
          <a:xfrm>
            <a:off x="594360" y="4425696"/>
            <a:ext cx="11000232" cy="1234440"/>
          </a:xfrm>
          <a:prstGeom prst="roundRect">
            <a:avLst>
              <a:gd name="adj" fmla="val 5926"/>
            </a:avLst>
          </a:prstGeom>
          <a:solidFill>
            <a:srgbClr val="FFFFFF"/>
          </a:solidFill>
          <a:ln w="12700">
            <a:solidFill>
              <a:srgbClr val="EDE8FD"/>
            </a:solidFill>
            <a:prstDash val="solid"/>
          </a:ln>
        </p:spPr>
      </p:sp>
      <p:sp>
        <p:nvSpPr>
          <p:cNvPr id="17" name="Shape 14"/>
          <p:cNvSpPr/>
          <p:nvPr/>
        </p:nvSpPr>
        <p:spPr>
          <a:xfrm>
            <a:off x="914400" y="4837176"/>
            <a:ext cx="411480" cy="411480"/>
          </a:xfrm>
          <a:prstGeom prst="ellipse">
            <a:avLst/>
          </a:prstGeom>
          <a:solidFill>
            <a:srgbClr val="6B4EF0"/>
          </a:solidFill>
          <a:ln/>
        </p:spPr>
      </p:sp>
      <p:sp>
        <p:nvSpPr>
          <p:cNvPr id="18" name="Text 15"/>
          <p:cNvSpPr txBox="1"/>
          <p:nvPr/>
        </p:nvSpPr>
        <p:spPr>
          <a:xfrm>
            <a:off x="914400" y="4837176"/>
            <a:ext cx="411480" cy="41148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3</a:t>
            </a:r>
            <a:endParaRPr lang="en-US" sz="1600" dirty="0"/>
          </a:p>
        </p:txBody>
      </p:sp>
      <p:sp>
        <p:nvSpPr>
          <p:cNvPr id="19" name="Text 16"/>
          <p:cNvSpPr txBox="1"/>
          <p:nvPr/>
        </p:nvSpPr>
        <p:spPr>
          <a:xfrm>
            <a:off x="1554480" y="4608576"/>
            <a:ext cx="9692640" cy="457200"/>
          </a:xfrm>
          <a:prstGeom prst="rect">
            <a:avLst/>
          </a:prstGeom>
          <a:noFill/>
          <a:ln/>
        </p:spPr>
        <p:txBody>
          <a:bodyPr wrap="square" lIns="0" tIns="0" rIns="0" bIns="0" rtlCol="0" anchor="ctr"/>
          <a:lstStyle/>
          <a:p>
            <a:pPr indent="0" marL="0">
              <a:buNone/>
            </a:pPr>
            <a:r>
              <a:rPr lang="en-US" sz="2400" b="1" dirty="0">
                <a:solidFill>
                  <a:srgbClr val="1A1533"/>
                </a:solidFill>
                <a:latin typeface="Arial" pitchFamily="34" charset="0"/>
                <a:ea typeface="Arial" pitchFamily="34" charset="-122"/>
                <a:cs typeface="Arial" pitchFamily="34" charset="-120"/>
              </a:rPr>
              <a:t>No plaintext keys at rest.</a:t>
            </a:r>
            <a:endParaRPr lang="en-US" sz="2400" dirty="0"/>
          </a:p>
        </p:txBody>
      </p:sp>
      <p:sp>
        <p:nvSpPr>
          <p:cNvPr id="20" name="Text 17"/>
          <p:cNvSpPr txBox="1"/>
          <p:nvPr/>
        </p:nvSpPr>
        <p:spPr>
          <a:xfrm>
            <a:off x="1554480" y="5084064"/>
            <a:ext cx="9692640" cy="411480"/>
          </a:xfrm>
          <a:prstGeom prst="rect">
            <a:avLst/>
          </a:prstGeom>
          <a:noFill/>
          <a:ln/>
        </p:spPr>
        <p:txBody>
          <a:bodyPr wrap="square" lIns="0" tIns="0" rIns="0" bIns="0" rtlCol="0" anchor="ctr"/>
          <a:lstStyle/>
          <a:p>
            <a:pPr indent="0" marL="0">
              <a:buNone/>
            </a:pPr>
            <a:r>
              <a:rPr lang="en-US" sz="1600" dirty="0">
                <a:solidFill>
                  <a:srgbClr val="5F5878"/>
                </a:solidFill>
                <a:latin typeface="Arial" pitchFamily="34" charset="0"/>
                <a:ea typeface="Arial" pitchFamily="34" charset="-122"/>
                <a:cs typeface="Arial" pitchFamily="34" charset="-120"/>
              </a:rPr>
              <a:t>Fernet in the DB, or Key Vault, or Vault. Never a file on disk.</a:t>
            </a:r>
            <a:endParaRPr lang="en-US" sz="1600" dirty="0"/>
          </a:p>
        </p:txBody>
      </p:sp>
      <p:sp>
        <p:nvSpPr>
          <p:cNvPr id="21" name="Text 18"/>
          <p:cNvSpPr txBox="1"/>
          <p:nvPr/>
        </p:nvSpPr>
        <p:spPr>
          <a:xfrm>
            <a:off x="594360" y="6144768"/>
            <a:ext cx="11064240" cy="365760"/>
          </a:xfrm>
          <a:prstGeom prst="rect">
            <a:avLst/>
          </a:prstGeom>
          <a:noFill/>
          <a:ln/>
        </p:spPr>
        <p:txBody>
          <a:bodyPr wrap="square" lIns="0" tIns="0" rIns="0" bIns="0" rtlCol="0" anchor="ctr"/>
          <a:lstStyle/>
          <a:p>
            <a:pPr algn="l" indent="0" marL="0">
              <a:buNone/>
            </a:pPr>
            <a:r>
              <a:rPr lang="en-US" sz="1200" dirty="0">
                <a:solidFill>
                  <a:srgbClr val="6B4EF0"/>
                </a:solidFill>
                <a:latin typeface="Courier New" pitchFamily="34" charset="0"/>
                <a:ea typeface="Courier New" pitchFamily="34" charset="-122"/>
                <a:cs typeface="Courier New" pitchFamily="34" charset="-120"/>
              </a:rPr>
              <a:t># the staging environment exists because I do</a:t>
            </a:r>
            <a:endParaRPr lang="en-US" sz="1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4B18E8"/>
        </a:solidFill>
      </p:bgPr>
    </p:bg>
    <p:spTree>
      <p:nvGrpSpPr>
        <p:cNvPr id="1" name=""/>
        <p:cNvGrpSpPr/>
        <p:nvPr/>
      </p:nvGrpSpPr>
      <p:grpSpPr>
        <a:xfrm>
          <a:off x="0" y="0"/>
          <a:ext cx="0" cy="0"/>
          <a:chOff x="0" y="0"/>
          <a:chExt cx="0" cy="0"/>
        </a:xfrm>
      </p:grpSpPr>
      <p:sp>
        <p:nvSpPr>
          <p:cNvPr id="3" name="Text 0"/>
          <p:cNvSpPr txBox="1"/>
          <p:nvPr/>
        </p:nvSpPr>
        <p:spPr>
          <a:xfrm>
            <a:off x="777240" y="685800"/>
            <a:ext cx="10789920" cy="822960"/>
          </a:xfrm>
          <a:prstGeom prst="rect">
            <a:avLst/>
          </a:prstGeom>
          <a:noFill/>
          <a:ln/>
        </p:spPr>
        <p:txBody>
          <a:bodyPr wrap="square" lIns="0" tIns="0" rIns="0" bIns="0" rtlCol="0" anchor="ctr"/>
          <a:lstStyle/>
          <a:p>
            <a:pPr indent="0" marL="0">
              <a:buNone/>
            </a:pPr>
            <a:r>
              <a:rPr lang="en-US" sz="4400" b="1" dirty="0">
                <a:solidFill>
                  <a:srgbClr val="C2F166"/>
                </a:solidFill>
                <a:latin typeface="Arial" pitchFamily="34" charset="0"/>
                <a:ea typeface="Arial" pitchFamily="34" charset="-122"/>
                <a:cs typeface="Arial" pitchFamily="34" charset="-120"/>
              </a:rPr>
              <a:t>Try it</a:t>
            </a:r>
            <a:endParaRPr lang="en-US" sz="4400" dirty="0"/>
          </a:p>
        </p:txBody>
      </p:sp>
      <p:sp>
        <p:nvSpPr>
          <p:cNvPr id="4" name="Shape 1"/>
          <p:cNvSpPr/>
          <p:nvPr/>
        </p:nvSpPr>
        <p:spPr>
          <a:xfrm>
            <a:off x="777240" y="1691640"/>
            <a:ext cx="10789920" cy="1965960"/>
          </a:xfrm>
          <a:prstGeom prst="roundRect">
            <a:avLst>
              <a:gd name="adj" fmla="val 4186"/>
            </a:avLst>
          </a:prstGeom>
          <a:solidFill>
            <a:srgbClr val="2E0C93"/>
          </a:solidFill>
          <a:ln w="12700">
            <a:solidFill>
              <a:srgbClr val="5B2BEF"/>
            </a:solidFill>
            <a:prstDash val="solid"/>
          </a:ln>
        </p:spPr>
      </p:sp>
      <p:sp>
        <p:nvSpPr>
          <p:cNvPr id="5" name="Text 2"/>
          <p:cNvSpPr txBox="1"/>
          <p:nvPr/>
        </p:nvSpPr>
        <p:spPr>
          <a:xfrm>
            <a:off x="1051560" y="1874520"/>
            <a:ext cx="10241280" cy="1600200"/>
          </a:xfrm>
          <a:prstGeom prst="rect">
            <a:avLst/>
          </a:prstGeom>
          <a:noFill/>
          <a:ln/>
        </p:spPr>
        <p:txBody>
          <a:bodyPr wrap="square" lIns="0" tIns="0" rIns="0" bIns="0" rtlCol="0" anchor="t"/>
          <a:lstStyle/>
          <a:p>
            <a:pPr indent="0" marL="0">
              <a:lnSpc>
                <a:spcPct val="120000"/>
              </a:lnSpc>
              <a:buNone/>
            </a:pPr>
            <a:r>
              <a:rPr lang="en-US" sz="1400" dirty="0">
                <a:solidFill>
                  <a:srgbClr val="C2F166"/>
                </a:solidFill>
                <a:latin typeface="Courier New" pitchFamily="34" charset="0"/>
                <a:ea typeface="Courier New" pitchFamily="34" charset="-122"/>
                <a:cs typeface="Courier New" pitchFamily="34" charset="-120"/>
              </a:rPr>
              <a:t>docker run -d --name acme-lan -p 8000:8000 -v acme-lan-data:/app/data \</a:t>
            </a:r>
            <a:endParaRPr lang="en-US" sz="1400" dirty="0"/>
          </a:p>
          <a:p>
            <a:pPr indent="0" marL="0">
              <a:lnSpc>
                <a:spcPct val="120000"/>
              </a:lnSpc>
              <a:buNone/>
            </a:pPr>
            <a:r>
              <a:rPr lang="en-US" sz="1400" dirty="0">
                <a:solidFill>
                  <a:srgbClr val="C2F166"/>
                </a:solidFill>
                <a:latin typeface="Courier New" pitchFamily="34" charset="0"/>
                <a:ea typeface="Courier New" pitchFamily="34" charset="-122"/>
                <a:cs typeface="Courier New" pitchFamily="34" charset="-120"/>
              </a:rPr>
              <a:t>  -e ACME_LAN_EXTERNAL_URL="http://acme-lan.example.net:8000" \</a:t>
            </a:r>
            <a:endParaRPr lang="en-US" sz="1400" dirty="0"/>
          </a:p>
          <a:p>
            <a:pPr indent="0" marL="0">
              <a:lnSpc>
                <a:spcPct val="120000"/>
              </a:lnSpc>
              <a:buNone/>
            </a:pPr>
            <a:r>
              <a:rPr lang="en-US" sz="1400" dirty="0">
                <a:solidFill>
                  <a:srgbClr val="C2F166"/>
                </a:solidFill>
                <a:latin typeface="Courier New" pitchFamily="34" charset="0"/>
                <a:ea typeface="Courier New" pitchFamily="34" charset="-122"/>
                <a:cs typeface="Courier New" pitchFamily="34" charset="-120"/>
              </a:rPr>
              <a:t>  -e ACME_LAN_SECRET_KEY="$(...fernet key...)" \</a:t>
            </a:r>
            <a:endParaRPr lang="en-US" sz="1400" dirty="0"/>
          </a:p>
          <a:p>
            <a:pPr indent="0" marL="0">
              <a:lnSpc>
                <a:spcPct val="120000"/>
              </a:lnSpc>
              <a:buNone/>
            </a:pPr>
            <a:r>
              <a:rPr lang="en-US" sz="1400" dirty="0">
                <a:solidFill>
                  <a:srgbClr val="C2F166"/>
                </a:solidFill>
                <a:latin typeface="Courier New" pitchFamily="34" charset="0"/>
                <a:ea typeface="Courier New" pitchFamily="34" charset="-122"/>
                <a:cs typeface="Courier New" pitchFamily="34" charset="-120"/>
              </a:rPr>
              <a:t>  -e ACME_LAN_DNS_PROVIDER="cloudflare" \</a:t>
            </a:r>
            <a:endParaRPr lang="en-US" sz="1400" dirty="0"/>
          </a:p>
          <a:p>
            <a:pPr indent="0" marL="0">
              <a:lnSpc>
                <a:spcPct val="120000"/>
              </a:lnSpc>
              <a:buNone/>
            </a:pPr>
            <a:r>
              <a:rPr lang="en-US" sz="1400" dirty="0">
                <a:solidFill>
                  <a:srgbClr val="C2F166"/>
                </a:solidFill>
                <a:latin typeface="Courier New" pitchFamily="34" charset="0"/>
                <a:ea typeface="Courier New" pitchFamily="34" charset="-122"/>
                <a:cs typeface="Courier New" pitchFamily="34" charset="-120"/>
              </a:rPr>
              <a:t>  ghcr.io/smallsam/acme-lan:latest      # defaults to LE staging</a:t>
            </a:r>
            <a:endParaRPr lang="en-US" sz="1400" dirty="0"/>
          </a:p>
        </p:txBody>
      </p:sp>
      <p:sp>
        <p:nvSpPr>
          <p:cNvPr id="6" name="Text 3"/>
          <p:cNvSpPr txBox="1"/>
          <p:nvPr/>
        </p:nvSpPr>
        <p:spPr>
          <a:xfrm>
            <a:off x="777240" y="3931920"/>
            <a:ext cx="10789920" cy="640080"/>
          </a:xfrm>
          <a:prstGeom prst="rect">
            <a:avLst/>
          </a:prstGeom>
          <a:noFill/>
          <a:ln/>
        </p:spPr>
        <p:txBody>
          <a:bodyPr wrap="square" lIns="0" tIns="0" rIns="0" bIns="0" rtlCol="0" anchor="ctr"/>
          <a:lstStyle/>
          <a:p>
            <a:pPr indent="0" marL="0">
              <a:buNone/>
            </a:pPr>
            <a:r>
              <a:rPr lang="en-US" sz="3400" b="1" dirty="0">
                <a:solidFill>
                  <a:srgbClr val="FFFFFF"/>
                </a:solidFill>
                <a:latin typeface="Arial" pitchFamily="34" charset="0"/>
                <a:ea typeface="Arial" pitchFamily="34" charset="-122"/>
                <a:cs typeface="Arial" pitchFamily="34" charset="-120"/>
              </a:rPr>
              <a:t>github.com/smallsam/acme-lan</a:t>
            </a:r>
            <a:endParaRPr lang="en-US" sz="3400" dirty="0"/>
          </a:p>
        </p:txBody>
      </p:sp>
      <p:sp>
        <p:nvSpPr>
          <p:cNvPr id="7" name="Text 4"/>
          <p:cNvSpPr txBox="1"/>
          <p:nvPr/>
        </p:nvSpPr>
        <p:spPr>
          <a:xfrm>
            <a:off x="777240" y="4572000"/>
            <a:ext cx="10789920" cy="411480"/>
          </a:xfrm>
          <a:prstGeom prst="rect">
            <a:avLst/>
          </a:prstGeom>
          <a:noFill/>
          <a:ln/>
        </p:spPr>
        <p:txBody>
          <a:bodyPr wrap="square" lIns="0" tIns="0" rIns="0" bIns="0" rtlCol="0" anchor="ctr"/>
          <a:lstStyle/>
          <a:p>
            <a:pPr indent="0" marL="0">
              <a:buNone/>
            </a:pPr>
            <a:r>
              <a:rPr lang="en-US" sz="1600" dirty="0">
                <a:solidFill>
                  <a:srgbClr val="B18CFA"/>
                </a:solidFill>
                <a:latin typeface="Arial" pitchFamily="34" charset="0"/>
                <a:ea typeface="Arial" pitchFamily="34" charset="-122"/>
                <a:cs typeface="Arial" pitchFamily="34" charset="-120"/>
              </a:rPr>
              <a:t>MIT · docs for deployment, plugins and key handling in the repo · issues and vendor plugins very welcome</a:t>
            </a:r>
            <a:endParaRPr lang="en-US" sz="1600" dirty="0"/>
          </a:p>
        </p:txBody>
      </p:sp>
      <p:sp>
        <p:nvSpPr>
          <p:cNvPr id="8" name="Text 5"/>
          <p:cNvSpPr txBox="1"/>
          <p:nvPr/>
        </p:nvSpPr>
        <p:spPr>
          <a:xfrm>
            <a:off x="777240" y="5166360"/>
            <a:ext cx="10789920" cy="914400"/>
          </a:xfrm>
          <a:prstGeom prst="rect">
            <a:avLst/>
          </a:prstGeom>
          <a:noFill/>
          <a:ln/>
        </p:spPr>
        <p:txBody>
          <a:bodyPr wrap="square" lIns="0" tIns="0" rIns="0" bIns="0" rtlCol="0" anchor="ctr"/>
          <a:lstStyle/>
          <a:p>
            <a:pPr indent="0" marL="0">
              <a:lnSpc>
                <a:spcPct val="115000"/>
              </a:lnSpc>
              <a:buNone/>
            </a:pPr>
            <a:r>
              <a:rPr lang="en-US" sz="1900" i="1" dirty="0">
                <a:solidFill>
                  <a:srgbClr val="C2F166"/>
                </a:solidFill>
                <a:latin typeface="Arial" pitchFamily="34" charset="0"/>
                <a:ea typeface="Arial" pitchFamily="34" charset="-122"/>
                <a:cs typeface="Arial" pitchFamily="34" charset="-120"/>
              </a:rPr>
              <a:t>Thanks. No questions — lightning talk rules — but I’m in the hallway,</a:t>
            </a:r>
            <a:endParaRPr lang="en-US" sz="1900" dirty="0"/>
          </a:p>
          <a:p>
            <a:pPr indent="0" marL="0">
              <a:lnSpc>
                <a:spcPct val="115000"/>
              </a:lnSpc>
              <a:buNone/>
            </a:pPr>
            <a:r>
              <a:rPr lang="en-US" sz="1900" i="1" dirty="0">
                <a:solidFill>
                  <a:srgbClr val="C2F166"/>
                </a:solidFill>
                <a:latin typeface="Arial" pitchFamily="34" charset="0"/>
                <a:ea typeface="Arial" pitchFamily="34" charset="-122"/>
                <a:cs typeface="Arial" pitchFamily="34" charset="-120"/>
              </a:rPr>
              <a:t>and my printer finally has a certificate nobody has to click through.</a:t>
            </a:r>
            <a:endParaRPr lang="en-US" sz="1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acme-lan — PyCon AU 2026 lightning talk</dc:title>
  <dc:subject>PptxGenJS Presentation</dc:subject>
  <dc:creator>smallsam</dc:creator>
  <cp:lastModifiedBy>smallsam</cp:lastModifiedBy>
  <cp:revision>1</cp:revision>
  <dcterms:created xsi:type="dcterms:W3CDTF">2026-08-27T22:03:14Z</dcterms:created>
  <dcterms:modified xsi:type="dcterms:W3CDTF">2026-08-27T22:03:14Z</dcterms:modified>
</cp:coreProperties>
</file>